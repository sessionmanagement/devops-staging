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s/modernComment_104_30A4A674.xml" ContentType="application/vnd.ms-powerpoint.comments+xml"/>
  <Override PartName="/ppt/comments/modernComment_107_7DE8A7D9.xml" ContentType="application/vnd.ms-powerpoint.comments+xml"/>
  <Override PartName="/ppt/comments/modernComment_106_C683F6F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4"/>
  </p:sldMasterIdLst>
  <p:sldIdLst>
    <p:sldId id="260" r:id="rId5"/>
    <p:sldId id="261" r:id="rId6"/>
    <p:sldId id="263" r:id="rId7"/>
    <p:sldId id="262" r:id="rId8"/>
    <p:sldId id="265" r:id="rId9"/>
    <p:sldId id="264" r:id="rId10"/>
    <p:sldId id="269"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86092B-7091-DA26-B24F-422885D23C9B}" name="Jodie Greaves" initials="JG" userId="S::Jodie.Greaves@emergeaotearoa.org.nz::29870748-0bb8-4d41-8c63-d4332bc818d5" providerId="AD"/>
  <p188:author id="{806F2F52-E649-8285-5ED2-411187169BA4}" name="Chris Negus" initials="CN" userId="S::chris.negus@emergeaotearoa.org.nz::6cb5dacf-cbe1-4da1-aff1-7c9e0d4883e8" providerId="AD"/>
  <p188:author id="{48F86394-23B4-5B84-4EA3-1C0D8FC2569E}" name="Manish Singh" initials="MS" userId="S::Manish.Singh@emergeaotearoa.org.nz::1c0c2f4d-e784-4247-b5f4-24b0cf3d287d" providerId="AD"/>
  <p188:author id="{CDE5A2E0-C5C0-EE27-3DFE-21DDE25B38DF}" name="Callum Ellwood" initials="CE" userId="S::callum.ellwood@emergeaotearoa.org.nz::908fc76e-ab3e-4b18-8d38-8472d35d84d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B9C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6F6150-8A77-40D4-830E-C7FC156C97A2}" v="15" dt="2023-08-29T01:50:24.3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sh Singh" userId="1c0c2f4d-e784-4247-b5f4-24b0cf3d287d" providerId="ADAL" clId="{D26F6150-8A77-40D4-830E-C7FC156C97A2}"/>
    <pc:docChg chg="undo custSel addSld delSld modSld">
      <pc:chgData name="Manish Singh" userId="1c0c2f4d-e784-4247-b5f4-24b0cf3d287d" providerId="ADAL" clId="{D26F6150-8A77-40D4-830E-C7FC156C97A2}" dt="2023-08-29T01:50:54.451" v="2039" actId="6549"/>
      <pc:docMkLst>
        <pc:docMk/>
      </pc:docMkLst>
      <pc:sldChg chg="modSp mod">
        <pc:chgData name="Manish Singh" userId="1c0c2f4d-e784-4247-b5f4-24b0cf3d287d" providerId="ADAL" clId="{D26F6150-8A77-40D4-830E-C7FC156C97A2}" dt="2023-08-29T01:49:27.079" v="2025" actId="255"/>
        <pc:sldMkLst>
          <pc:docMk/>
          <pc:sldMk cId="775382908" sldId="261"/>
        </pc:sldMkLst>
        <pc:graphicFrameChg chg="mod modGraphic">
          <ac:chgData name="Manish Singh" userId="1c0c2f4d-e784-4247-b5f4-24b0cf3d287d" providerId="ADAL" clId="{D26F6150-8A77-40D4-830E-C7FC156C97A2}" dt="2023-08-29T01:49:27.079" v="2025" actId="255"/>
          <ac:graphicFrameMkLst>
            <pc:docMk/>
            <pc:sldMk cId="775382908" sldId="261"/>
            <ac:graphicFrameMk id="2" creationId="{72F0CA62-2D0F-A8EE-8070-6445BC2E4A37}"/>
          </ac:graphicFrameMkLst>
        </pc:graphicFrameChg>
        <pc:graphicFrameChg chg="modGraphic">
          <ac:chgData name="Manish Singh" userId="1c0c2f4d-e784-4247-b5f4-24b0cf3d287d" providerId="ADAL" clId="{D26F6150-8A77-40D4-830E-C7FC156C97A2}" dt="2023-08-28T23:19:02.528" v="144" actId="20577"/>
          <ac:graphicFrameMkLst>
            <pc:docMk/>
            <pc:sldMk cId="775382908" sldId="261"/>
            <ac:graphicFrameMk id="5" creationId="{EB387EAB-BEA2-11CF-A7E4-69D6F0B75BE2}"/>
          </ac:graphicFrameMkLst>
        </pc:graphicFrameChg>
      </pc:sldChg>
      <pc:sldChg chg="addSp modSp mod">
        <pc:chgData name="Manish Singh" userId="1c0c2f4d-e784-4247-b5f4-24b0cf3d287d" providerId="ADAL" clId="{D26F6150-8A77-40D4-830E-C7FC156C97A2}" dt="2023-08-29T01:50:54.451" v="2039" actId="6549"/>
        <pc:sldMkLst>
          <pc:docMk/>
          <pc:sldMk cId="3330537214" sldId="262"/>
        </pc:sldMkLst>
        <pc:spChg chg="add mod">
          <ac:chgData name="Manish Singh" userId="1c0c2f4d-e784-4247-b5f4-24b0cf3d287d" providerId="ADAL" clId="{D26F6150-8A77-40D4-830E-C7FC156C97A2}" dt="2023-08-29T00:07:18.223" v="894" actId="20577"/>
          <ac:spMkLst>
            <pc:docMk/>
            <pc:sldMk cId="3330537214" sldId="262"/>
            <ac:spMk id="3" creationId="{B9D04386-AA77-DB91-9535-D45339A74F53}"/>
          </ac:spMkLst>
        </pc:spChg>
        <pc:graphicFrameChg chg="modGraphic">
          <ac:chgData name="Manish Singh" userId="1c0c2f4d-e784-4247-b5f4-24b0cf3d287d" providerId="ADAL" clId="{D26F6150-8A77-40D4-830E-C7FC156C97A2}" dt="2023-08-29T01:50:54.451" v="2039" actId="6549"/>
          <ac:graphicFrameMkLst>
            <pc:docMk/>
            <pc:sldMk cId="3330537214" sldId="262"/>
            <ac:graphicFrameMk id="6" creationId="{623EEDCC-90A5-9201-8406-B24DBEDC7233}"/>
          </ac:graphicFrameMkLst>
        </pc:graphicFrameChg>
      </pc:sldChg>
      <pc:sldChg chg="modSp mod">
        <pc:chgData name="Manish Singh" userId="1c0c2f4d-e784-4247-b5f4-24b0cf3d287d" providerId="ADAL" clId="{D26F6150-8A77-40D4-830E-C7FC156C97A2}" dt="2023-08-28T23:44:24.540" v="844" actId="6549"/>
        <pc:sldMkLst>
          <pc:docMk/>
          <pc:sldMk cId="2112399321" sldId="263"/>
        </pc:sldMkLst>
        <pc:graphicFrameChg chg="modGraphic">
          <ac:chgData name="Manish Singh" userId="1c0c2f4d-e784-4247-b5f4-24b0cf3d287d" providerId="ADAL" clId="{D26F6150-8A77-40D4-830E-C7FC156C97A2}" dt="2023-08-28T23:32:45.989" v="482" actId="6549"/>
          <ac:graphicFrameMkLst>
            <pc:docMk/>
            <pc:sldMk cId="2112399321" sldId="263"/>
            <ac:graphicFrameMk id="2" creationId="{63164DB9-4F7E-FFD8-E61C-E2105727C7E9}"/>
          </ac:graphicFrameMkLst>
        </pc:graphicFrameChg>
        <pc:graphicFrameChg chg="mod modGraphic">
          <ac:chgData name="Manish Singh" userId="1c0c2f4d-e784-4247-b5f4-24b0cf3d287d" providerId="ADAL" clId="{D26F6150-8A77-40D4-830E-C7FC156C97A2}" dt="2023-08-28T23:44:24.540" v="844" actId="6549"/>
          <ac:graphicFrameMkLst>
            <pc:docMk/>
            <pc:sldMk cId="2112399321" sldId="263"/>
            <ac:graphicFrameMk id="3" creationId="{C25C4DCA-1B97-E5E3-A90B-CE2C66CC7C97}"/>
          </ac:graphicFrameMkLst>
        </pc:graphicFrameChg>
        <pc:graphicFrameChg chg="mod modGraphic">
          <ac:chgData name="Manish Singh" userId="1c0c2f4d-e784-4247-b5f4-24b0cf3d287d" providerId="ADAL" clId="{D26F6150-8A77-40D4-830E-C7FC156C97A2}" dt="2023-08-28T23:35:34.873" v="721" actId="5793"/>
          <ac:graphicFrameMkLst>
            <pc:docMk/>
            <pc:sldMk cId="2112399321" sldId="263"/>
            <ac:graphicFrameMk id="4" creationId="{B6F6D6BF-DD30-7F91-5AE9-9D7087DD7B57}"/>
          </ac:graphicFrameMkLst>
        </pc:graphicFrameChg>
        <pc:graphicFrameChg chg="modGraphic">
          <ac:chgData name="Manish Singh" userId="1c0c2f4d-e784-4247-b5f4-24b0cf3d287d" providerId="ADAL" clId="{D26F6150-8A77-40D4-830E-C7FC156C97A2}" dt="2023-08-28T23:20:40.642" v="178" actId="6549"/>
          <ac:graphicFrameMkLst>
            <pc:docMk/>
            <pc:sldMk cId="2112399321" sldId="263"/>
            <ac:graphicFrameMk id="6" creationId="{623EEDCC-90A5-9201-8406-B24DBEDC7233}"/>
          </ac:graphicFrameMkLst>
        </pc:graphicFrameChg>
      </pc:sldChg>
      <pc:sldChg chg="addSp delSp modSp mod">
        <pc:chgData name="Manish Singh" userId="1c0c2f4d-e784-4247-b5f4-24b0cf3d287d" providerId="ADAL" clId="{D26F6150-8A77-40D4-830E-C7FC156C97A2}" dt="2023-08-29T01:41:52.040" v="1432"/>
        <pc:sldMkLst>
          <pc:docMk/>
          <pc:sldMk cId="1375929446" sldId="264"/>
        </pc:sldMkLst>
        <pc:spChg chg="mod">
          <ac:chgData name="Manish Singh" userId="1c0c2f4d-e784-4247-b5f4-24b0cf3d287d" providerId="ADAL" clId="{D26F6150-8A77-40D4-830E-C7FC156C97A2}" dt="2023-08-29T01:26:50.157" v="1421" actId="20577"/>
          <ac:spMkLst>
            <pc:docMk/>
            <pc:sldMk cId="1375929446" sldId="264"/>
            <ac:spMk id="16" creationId="{1E382F34-A817-867C-2F1B-F791379442BF}"/>
          </ac:spMkLst>
        </pc:spChg>
        <pc:spChg chg="del">
          <ac:chgData name="Manish Singh" userId="1c0c2f4d-e784-4247-b5f4-24b0cf3d287d" providerId="ADAL" clId="{D26F6150-8A77-40D4-830E-C7FC156C97A2}" dt="2023-08-29T01:16:10.909" v="1085" actId="478"/>
          <ac:spMkLst>
            <pc:docMk/>
            <pc:sldMk cId="1375929446" sldId="264"/>
            <ac:spMk id="24" creationId="{AF1E022E-DB7B-D9C3-4D0A-40CBF8297310}"/>
          </ac:spMkLst>
        </pc:spChg>
        <pc:spChg chg="del mod">
          <ac:chgData name="Manish Singh" userId="1c0c2f4d-e784-4247-b5f4-24b0cf3d287d" providerId="ADAL" clId="{D26F6150-8A77-40D4-830E-C7FC156C97A2}" dt="2023-08-29T01:41:52.040" v="1432"/>
          <ac:spMkLst>
            <pc:docMk/>
            <pc:sldMk cId="1375929446" sldId="264"/>
            <ac:spMk id="25" creationId="{3AAB58BE-35D1-5A1E-1C7C-28D34C2BD5FE}"/>
          </ac:spMkLst>
        </pc:spChg>
        <pc:picChg chg="add del mod">
          <ac:chgData name="Manish Singh" userId="1c0c2f4d-e784-4247-b5f4-24b0cf3d287d" providerId="ADAL" clId="{D26F6150-8A77-40D4-830E-C7FC156C97A2}" dt="2023-08-29T01:27:32.404" v="1422" actId="478"/>
          <ac:picMkLst>
            <pc:docMk/>
            <pc:sldMk cId="1375929446" sldId="264"/>
            <ac:picMk id="3" creationId="{3659D040-C1D5-7681-B9B1-34F26317A483}"/>
          </ac:picMkLst>
        </pc:picChg>
        <pc:picChg chg="add del mod">
          <ac:chgData name="Manish Singh" userId="1c0c2f4d-e784-4247-b5f4-24b0cf3d287d" providerId="ADAL" clId="{D26F6150-8A77-40D4-830E-C7FC156C97A2}" dt="2023-08-29T01:26:10.767" v="1409" actId="478"/>
          <ac:picMkLst>
            <pc:docMk/>
            <pc:sldMk cId="1375929446" sldId="264"/>
            <ac:picMk id="5" creationId="{3AED3EAA-A533-C83B-AAAD-8DB4F693B117}"/>
          </ac:picMkLst>
        </pc:picChg>
        <pc:picChg chg="add mod">
          <ac:chgData name="Manish Singh" userId="1c0c2f4d-e784-4247-b5f4-24b0cf3d287d" providerId="ADAL" clId="{D26F6150-8A77-40D4-830E-C7FC156C97A2}" dt="2023-08-29T01:27:40.533" v="1425" actId="14100"/>
          <ac:picMkLst>
            <pc:docMk/>
            <pc:sldMk cId="1375929446" sldId="264"/>
            <ac:picMk id="7" creationId="{0F430D5D-F53A-C414-1AE1-9F3785EA8DD5}"/>
          </ac:picMkLst>
        </pc:picChg>
        <pc:picChg chg="add mod">
          <ac:chgData name="Manish Singh" userId="1c0c2f4d-e784-4247-b5f4-24b0cf3d287d" providerId="ADAL" clId="{D26F6150-8A77-40D4-830E-C7FC156C97A2}" dt="2023-08-29T01:41:51.559" v="1430" actId="14100"/>
          <ac:picMkLst>
            <pc:docMk/>
            <pc:sldMk cId="1375929446" sldId="264"/>
            <ac:picMk id="10" creationId="{4836CB8C-E5FD-800E-A1B4-B60F10EE300B}"/>
          </ac:picMkLst>
        </pc:picChg>
        <pc:picChg chg="del">
          <ac:chgData name="Manish Singh" userId="1c0c2f4d-e784-4247-b5f4-24b0cf3d287d" providerId="ADAL" clId="{D26F6150-8A77-40D4-830E-C7FC156C97A2}" dt="2023-08-29T01:16:05.270" v="1084" actId="478"/>
          <ac:picMkLst>
            <pc:docMk/>
            <pc:sldMk cId="1375929446" sldId="264"/>
            <ac:picMk id="23" creationId="{60D749E0-63CB-ACF1-23CC-E19E2B70009A}"/>
          </ac:picMkLst>
        </pc:picChg>
        <pc:picChg chg="del">
          <ac:chgData name="Manish Singh" userId="1c0c2f4d-e784-4247-b5f4-24b0cf3d287d" providerId="ADAL" clId="{D26F6150-8A77-40D4-830E-C7FC156C97A2}" dt="2023-08-29T01:15:59.717" v="1082" actId="478"/>
          <ac:picMkLst>
            <pc:docMk/>
            <pc:sldMk cId="1375929446" sldId="264"/>
            <ac:picMk id="5122" creationId="{0D38F3C0-DBA1-B6B1-1538-327C16302C01}"/>
          </ac:picMkLst>
        </pc:picChg>
        <pc:picChg chg="del">
          <ac:chgData name="Manish Singh" userId="1c0c2f4d-e784-4247-b5f4-24b0cf3d287d" providerId="ADAL" clId="{D26F6150-8A77-40D4-830E-C7FC156C97A2}" dt="2023-08-29T01:16:02.637" v="1083" actId="478"/>
          <ac:picMkLst>
            <pc:docMk/>
            <pc:sldMk cId="1375929446" sldId="264"/>
            <ac:picMk id="5124" creationId="{283884CD-2F9A-B078-636E-23E1AAAB9B65}"/>
          </ac:picMkLst>
        </pc:picChg>
        <pc:cxnChg chg="mod">
          <ac:chgData name="Manish Singh" userId="1c0c2f4d-e784-4247-b5f4-24b0cf3d287d" providerId="ADAL" clId="{D26F6150-8A77-40D4-830E-C7FC156C97A2}" dt="2023-08-29T01:19:34.894" v="1162" actId="1076"/>
          <ac:cxnSpMkLst>
            <pc:docMk/>
            <pc:sldMk cId="1375929446" sldId="264"/>
            <ac:cxnSpMk id="9" creationId="{C60AD3AB-D414-E2BF-9AF2-32801FFC1836}"/>
          </ac:cxnSpMkLst>
        </pc:cxnChg>
      </pc:sldChg>
      <pc:sldChg chg="modSp mod">
        <pc:chgData name="Manish Singh" userId="1c0c2f4d-e784-4247-b5f4-24b0cf3d287d" providerId="ADAL" clId="{D26F6150-8A77-40D4-830E-C7FC156C97A2}" dt="2023-08-29T00:10:03.885" v="1081"/>
        <pc:sldMkLst>
          <pc:docMk/>
          <pc:sldMk cId="3227699234" sldId="265"/>
        </pc:sldMkLst>
        <pc:graphicFrameChg chg="mod modGraphic">
          <ac:chgData name="Manish Singh" userId="1c0c2f4d-e784-4247-b5f4-24b0cf3d287d" providerId="ADAL" clId="{D26F6150-8A77-40D4-830E-C7FC156C97A2}" dt="2023-08-29T00:10:03.885" v="1081"/>
          <ac:graphicFrameMkLst>
            <pc:docMk/>
            <pc:sldMk cId="3227699234" sldId="265"/>
            <ac:graphicFrameMk id="9" creationId="{7CE43DE8-3C57-ED51-44EC-AD9F862135B4}"/>
          </ac:graphicFrameMkLst>
        </pc:graphicFrameChg>
      </pc:sldChg>
      <pc:sldChg chg="del">
        <pc:chgData name="Manish Singh" userId="1c0c2f4d-e784-4247-b5f4-24b0cf3d287d" providerId="ADAL" clId="{D26F6150-8A77-40D4-830E-C7FC156C97A2}" dt="2023-08-29T01:18:24.126" v="1158" actId="2696"/>
        <pc:sldMkLst>
          <pc:docMk/>
          <pc:sldMk cId="2766058312" sldId="266"/>
        </pc:sldMkLst>
      </pc:sldChg>
      <pc:sldChg chg="del">
        <pc:chgData name="Manish Singh" userId="1c0c2f4d-e784-4247-b5f4-24b0cf3d287d" providerId="ADAL" clId="{D26F6150-8A77-40D4-830E-C7FC156C97A2}" dt="2023-08-29T01:48:46.411" v="2014" actId="2696"/>
        <pc:sldMkLst>
          <pc:docMk/>
          <pc:sldMk cId="210126395" sldId="267"/>
        </pc:sldMkLst>
      </pc:sldChg>
      <pc:sldChg chg="modSp mod">
        <pc:chgData name="Manish Singh" userId="1c0c2f4d-e784-4247-b5f4-24b0cf3d287d" providerId="ADAL" clId="{D26F6150-8A77-40D4-830E-C7FC156C97A2}" dt="2023-08-29T01:49:09.624" v="2024" actId="20577"/>
        <pc:sldMkLst>
          <pc:docMk/>
          <pc:sldMk cId="983758221" sldId="268"/>
        </pc:sldMkLst>
        <pc:graphicFrameChg chg="mod modGraphic">
          <ac:chgData name="Manish Singh" userId="1c0c2f4d-e784-4247-b5f4-24b0cf3d287d" providerId="ADAL" clId="{D26F6150-8A77-40D4-830E-C7FC156C97A2}" dt="2023-08-29T01:49:09.624" v="2024" actId="20577"/>
          <ac:graphicFrameMkLst>
            <pc:docMk/>
            <pc:sldMk cId="983758221" sldId="268"/>
            <ac:graphicFrameMk id="5" creationId="{B9481BE6-3660-FA1E-4A75-E6ABEFE49472}"/>
          </ac:graphicFrameMkLst>
        </pc:graphicFrameChg>
      </pc:sldChg>
      <pc:sldChg chg="add">
        <pc:chgData name="Manish Singh" userId="1c0c2f4d-e784-4247-b5f4-24b0cf3d287d" providerId="ADAL" clId="{D26F6150-8A77-40D4-830E-C7FC156C97A2}" dt="2023-08-29T01:26:40.954" v="1410" actId="2890"/>
        <pc:sldMkLst>
          <pc:docMk/>
          <pc:sldMk cId="2578204805" sldId="269"/>
        </pc:sldMkLst>
      </pc:sldChg>
    </pc:docChg>
  </pc:docChgLst>
</pc:chgInfo>
</file>

<file path=ppt/comments/modernComment_104_30A4A674.xml><?xml version="1.0" encoding="utf-8"?>
<p188:cmLst xmlns:a="http://schemas.openxmlformats.org/drawingml/2006/main" xmlns:r="http://schemas.openxmlformats.org/officeDocument/2006/relationships" xmlns:p188="http://schemas.microsoft.com/office/powerpoint/2018/8/main">
  <p188:cm id="{ECE0A20B-4E21-4486-9B23-9393C12A123B}" authorId="{806F2F52-E649-8285-5ED2-411187169BA4}" created="2023-08-02T02:31:27.556">
    <pc:sldMkLst xmlns:pc="http://schemas.microsoft.com/office/powerpoint/2013/main/command">
      <pc:docMk/>
      <pc:sldMk cId="816096884" sldId="260"/>
    </pc:sldMkLst>
    <p188:txBody>
      <a:bodyPr/>
      <a:lstStyle/>
      <a:p>
        <a:r>
          <a:rPr lang="en-US"/>
          <a:t>Looks good.  I think it would be a good idea for us to build up an index of questions and responses that we add to over time.</a:t>
        </a:r>
      </a:p>
    </p188:txBody>
  </p188:cm>
</p188:cmLst>
</file>

<file path=ppt/comments/modernComment_106_C683F6FE.xml><?xml version="1.0" encoding="utf-8"?>
<p188:cmLst xmlns:a="http://schemas.openxmlformats.org/drawingml/2006/main" xmlns:r="http://schemas.openxmlformats.org/officeDocument/2006/relationships" xmlns:p188="http://schemas.microsoft.com/office/powerpoint/2018/8/main">
  <p188:cm id="{371608A7-1668-4A65-A529-2AD848BB7A0C}" authorId="{806F2F52-E649-8285-5ED2-411187169BA4}" created="2023-08-02T02:06:44.430">
    <pc:sldMkLst xmlns:pc="http://schemas.microsoft.com/office/powerpoint/2013/main/command">
      <pc:docMk/>
      <pc:sldMk cId="3330537214" sldId="262"/>
    </pc:sldMkLst>
    <p188:replyLst>
      <p188:reply id="{C1F30910-26EC-46F9-805A-94BAC451273D}" authorId="{CDE5A2E0-C5C0-EE27-3DFE-21DDE25B38DF}" created="2023-08-02T02:37:30.372">
        <p188:txBody>
          <a:bodyPr/>
          <a:lstStyle/>
          <a:p>
            <a:r>
              <a:rPr lang="en-US"/>
              <a:t>I envison this as a slow build based on the information they have at hand. so first page This one, whats the problem, what do they need. who is asking how urgent is it. Next section is a quick complete that will provide us with a view to proceed or push to project initiation. etc</a:t>
            </a:r>
          </a:p>
        </p188:txBody>
      </p188:reply>
    </p188:replyLst>
    <p188:txBody>
      <a:bodyPr/>
      <a:lstStyle/>
      <a:p>
        <a:r>
          <a:rPr lang="en-US"/>
          <a:t>Would this be included on the front page?  That way people can dive into the request straight-away?
Could their be a mail-merge type thing where any information gets added in once, and then spread throughout the document?
ALSO - Could that then turn it into a 1 pager, with the rest pushed into pages 2+
This is repeated on the 3rd page</a:t>
        </a:r>
      </a:p>
    </p188:txBody>
  </p188:cm>
</p188:cmLst>
</file>

<file path=ppt/comments/modernComment_107_7DE8A7D9.xml><?xml version="1.0" encoding="utf-8"?>
<p188:cmLst xmlns:a="http://schemas.openxmlformats.org/drawingml/2006/main" xmlns:r="http://schemas.openxmlformats.org/officeDocument/2006/relationships" xmlns:p188="http://schemas.microsoft.com/office/powerpoint/2018/8/main">
  <p188:cm id="{F5212403-3396-432F-B045-357EEAF7BFF0}" authorId="{806F2F52-E649-8285-5ED2-411187169BA4}" created="2023-08-02T02:26:46.174">
    <ac:deMkLst xmlns:ac="http://schemas.microsoft.com/office/drawing/2013/main/command">
      <pc:docMk xmlns:pc="http://schemas.microsoft.com/office/powerpoint/2013/main/command"/>
      <pc:sldMk xmlns:pc="http://schemas.microsoft.com/office/powerpoint/2013/main/command" cId="2112399321" sldId="263"/>
      <ac:graphicFrameMk id="5" creationId="{BB39A459-A898-83D0-2C59-DCA77950EDF0}"/>
    </ac:deMkLst>
    <p188:txBody>
      <a:bodyPr/>
      <a:lstStyle/>
      <a:p>
        <a:r>
          <a:rPr lang="en-US"/>
          <a:t>Have added in Power BI Datasets and Reporting</a:t>
        </a:r>
      </a:p>
    </p188:txBody>
    <p188:extLst>
      <p:ext xmlns:p="http://schemas.openxmlformats.org/presentationml/2006/main" uri="{57CB4572-C831-44C2-8A1C-0ADB6CCDFE69}">
        <p223:reactions xmlns:p223="http://schemas.microsoft.com/office/powerpoint/2022/03/main">
          <p223:rxn type="👍">
            <p223:instance time="2023-08-02T02:34:37.908" authorId="{CDE5A2E0-C5C0-EE27-3DFE-21DDE25B38DF}"/>
          </p223:rxn>
        </p223:reactions>
      </p:ext>
    </p188:extLst>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416CB-83B3-DB9C-23DE-B5152562EA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4A0F8272-243D-1BEC-630D-3459928222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581BD108-E02E-55E4-C576-24EB7284587C}"/>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5" name="Footer Placeholder 4">
            <a:extLst>
              <a:ext uri="{FF2B5EF4-FFF2-40B4-BE49-F238E27FC236}">
                <a16:creationId xmlns:a16="http://schemas.microsoft.com/office/drawing/2014/main" id="{0867DFDB-178C-862B-4231-BF7D7DF7AAA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3B0C3B7-31FE-F081-1718-FDA3AE3D4B8F}"/>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3436508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287A-9062-4F9A-F888-0AE8026345A4}"/>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3C2B25F-D02B-120E-A984-E8BFD023FE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C3CE646-D28D-F9DD-15C0-22B7A902B845}"/>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5" name="Footer Placeholder 4">
            <a:extLst>
              <a:ext uri="{FF2B5EF4-FFF2-40B4-BE49-F238E27FC236}">
                <a16:creationId xmlns:a16="http://schemas.microsoft.com/office/drawing/2014/main" id="{F610857D-4AFB-D6AE-3EB8-F89C8DD09F1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C3B4C95-4C21-C792-782B-7E964B50B446}"/>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287668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7863D-83D3-AA06-A899-2CA402AF55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2DADA220-8700-DF8B-0027-D29EFE536E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E2AD73-2A9E-5412-99E5-595F12D6A009}"/>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5" name="Footer Placeholder 4">
            <a:extLst>
              <a:ext uri="{FF2B5EF4-FFF2-40B4-BE49-F238E27FC236}">
                <a16:creationId xmlns:a16="http://schemas.microsoft.com/office/drawing/2014/main" id="{0E037EB1-9156-6A60-290E-A497D804AB3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9FE3C15-10D9-060C-0312-DDF825B41A00}"/>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120779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F7165-12AF-C11E-3114-F8936D77ABB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E822734A-BD5C-571A-EC88-F5859806C5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CDC7D088-55B5-22DA-59E2-E818808E4E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832C565-CCF5-F38A-DC2E-3E54567D75A7}"/>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6" name="Footer Placeholder 5">
            <a:extLst>
              <a:ext uri="{FF2B5EF4-FFF2-40B4-BE49-F238E27FC236}">
                <a16:creationId xmlns:a16="http://schemas.microsoft.com/office/drawing/2014/main" id="{1DCEEA74-146A-F439-4C9C-5FBE3BF1333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1971B4E-1286-B7E6-35E4-B18B0C266B3E}"/>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2628992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04BD2-A3F1-3C67-3D59-9ECC8A56DC04}"/>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66347F23-36E9-9112-A197-904A77DD28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605087-6B2E-A47E-3122-043E52B782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2A12801C-ED43-0E2C-D49C-8B5EF21591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162823-5C18-D71C-A9A1-D2B2DEFCAD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8C3F2F9A-9B75-79FB-BE41-D2ACDB508783}"/>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8" name="Footer Placeholder 7">
            <a:extLst>
              <a:ext uri="{FF2B5EF4-FFF2-40B4-BE49-F238E27FC236}">
                <a16:creationId xmlns:a16="http://schemas.microsoft.com/office/drawing/2014/main" id="{F5973426-C6B0-7756-817C-6EA69EA1B8FF}"/>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276C6BA5-3CC2-F66F-4FB4-0151FA1267A2}"/>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1809159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650E-EBB6-AA17-EABD-F575A943705C}"/>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A7F5419B-5537-677E-4F60-D60F510979A6}"/>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4" name="Footer Placeholder 3">
            <a:extLst>
              <a:ext uri="{FF2B5EF4-FFF2-40B4-BE49-F238E27FC236}">
                <a16:creationId xmlns:a16="http://schemas.microsoft.com/office/drawing/2014/main" id="{ACF6836C-0619-AEFA-FB12-076FF4E55851}"/>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D9B1B7E4-155C-5C02-99E8-B45109FE4102}"/>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3166721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66F115-7A7D-81A2-F5B0-F3EE445AD352}"/>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3" name="Footer Placeholder 2">
            <a:extLst>
              <a:ext uri="{FF2B5EF4-FFF2-40B4-BE49-F238E27FC236}">
                <a16:creationId xmlns:a16="http://schemas.microsoft.com/office/drawing/2014/main" id="{890689FD-AD22-7905-9925-79AAF8B7E8C0}"/>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B8FC75B9-558D-A230-AB2C-9609F3AA25F5}"/>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77971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8553-AE51-187F-2BE1-CDCC322259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92BBA158-2149-E938-EC9D-7637D8860C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7807A478-2D3E-AC2D-A20E-1AFEF62BD1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03AF0C-1A8D-9456-6972-140A3E131D04}"/>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6" name="Footer Placeholder 5">
            <a:extLst>
              <a:ext uri="{FF2B5EF4-FFF2-40B4-BE49-F238E27FC236}">
                <a16:creationId xmlns:a16="http://schemas.microsoft.com/office/drawing/2014/main" id="{6A6C5B7B-24D1-6944-88FB-44A0966AA8C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AE1D310-10A2-ED60-4191-378F04946821}"/>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2069237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D9F9-066D-5621-CF5A-6B35C4F66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019F801D-C868-9D74-1B14-3AF9B8C4CF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CC7310FB-6572-B140-8857-156AACAF48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EFF23D-2322-0647-3253-27F6DE870AD5}"/>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6" name="Footer Placeholder 5">
            <a:extLst>
              <a:ext uri="{FF2B5EF4-FFF2-40B4-BE49-F238E27FC236}">
                <a16:creationId xmlns:a16="http://schemas.microsoft.com/office/drawing/2014/main" id="{C19A9A02-BF6A-AA1C-5064-BF0EC12200DC}"/>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BF40BA2D-8D4B-A899-CD9F-37CA864494C7}"/>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347324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9020C-0C73-54A2-0242-FE0C01A701A2}"/>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8DE239D-5152-9981-21C2-1463156522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6DBA3A3C-6464-AAE6-EC5A-DE38FE60A560}"/>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5" name="Footer Placeholder 4">
            <a:extLst>
              <a:ext uri="{FF2B5EF4-FFF2-40B4-BE49-F238E27FC236}">
                <a16:creationId xmlns:a16="http://schemas.microsoft.com/office/drawing/2014/main" id="{A1EA46C8-C76D-0DAF-C1FB-C51BA95B853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FE72FA2-9A90-555F-18FA-5DD3A1FF4AAF}"/>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1420528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12EB69-A93D-4097-A255-CF0CE2697C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FF3AE03-D70C-912F-58DB-86F90A85A3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AF096B7-1620-BF05-8B99-C0C1547BC32B}"/>
              </a:ext>
            </a:extLst>
          </p:cNvPr>
          <p:cNvSpPr>
            <a:spLocks noGrp="1"/>
          </p:cNvSpPr>
          <p:nvPr>
            <p:ph type="dt" sz="half" idx="10"/>
          </p:nvPr>
        </p:nvSpPr>
        <p:spPr/>
        <p:txBody>
          <a:bodyPr/>
          <a:lstStyle/>
          <a:p>
            <a:fld id="{6FEC094A-8AA6-4716-9970-5BFB93977409}" type="datetimeFigureOut">
              <a:rPr lang="en-NZ" smtClean="0"/>
              <a:t>29/08/2023</a:t>
            </a:fld>
            <a:endParaRPr lang="en-NZ"/>
          </a:p>
        </p:txBody>
      </p:sp>
      <p:sp>
        <p:nvSpPr>
          <p:cNvPr id="5" name="Footer Placeholder 4">
            <a:extLst>
              <a:ext uri="{FF2B5EF4-FFF2-40B4-BE49-F238E27FC236}">
                <a16:creationId xmlns:a16="http://schemas.microsoft.com/office/drawing/2014/main" id="{194BEA72-7FA6-947D-7B30-18550D3585B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164ADD96-4140-B734-FD0C-5996F3CE2AFC}"/>
              </a:ext>
            </a:extLst>
          </p:cNvPr>
          <p:cNvSpPr>
            <a:spLocks noGrp="1"/>
          </p:cNvSpPr>
          <p:nvPr>
            <p:ph type="sldNum" sz="quarter" idx="12"/>
          </p:nvPr>
        </p:nvSpPr>
        <p:spPr/>
        <p:txBody>
          <a:bodyPr/>
          <a:lstStyle/>
          <a:p>
            <a:fld id="{C17C3AC9-E89B-4B4C-979C-80BEF379AE49}" type="slidenum">
              <a:rPr lang="en-NZ" smtClean="0"/>
              <a:t>‹#›</a:t>
            </a:fld>
            <a:endParaRPr lang="en-NZ"/>
          </a:p>
        </p:txBody>
      </p:sp>
    </p:spTree>
    <p:extLst>
      <p:ext uri="{BB962C8B-B14F-4D97-AF65-F5344CB8AC3E}">
        <p14:creationId xmlns:p14="http://schemas.microsoft.com/office/powerpoint/2010/main" val="3316930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8070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A02D51-426D-0C84-42F7-36A8FABC2D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E56D7303-6266-09DC-EDCE-801933D63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604DC87D-A990-B764-9955-CC19B858C6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EC094A-8AA6-4716-9970-5BFB93977409}" type="datetimeFigureOut">
              <a:rPr lang="en-NZ" smtClean="0"/>
              <a:t>29/08/2023</a:t>
            </a:fld>
            <a:endParaRPr lang="en-NZ"/>
          </a:p>
        </p:txBody>
      </p:sp>
      <p:sp>
        <p:nvSpPr>
          <p:cNvPr id="5" name="Footer Placeholder 4">
            <a:extLst>
              <a:ext uri="{FF2B5EF4-FFF2-40B4-BE49-F238E27FC236}">
                <a16:creationId xmlns:a16="http://schemas.microsoft.com/office/drawing/2014/main" id="{43FD64BB-F5B1-EBC3-DB96-2B6B38902B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CAB16504-2FD5-7F2E-8F49-3F176EAB47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C3AC9-E89B-4B4C-979C-80BEF379AE49}" type="slidenum">
              <a:rPr lang="en-NZ" smtClean="0"/>
              <a:t>‹#›</a:t>
            </a:fld>
            <a:endParaRPr lang="en-NZ"/>
          </a:p>
        </p:txBody>
      </p:sp>
    </p:spTree>
    <p:extLst>
      <p:ext uri="{BB962C8B-B14F-4D97-AF65-F5344CB8AC3E}">
        <p14:creationId xmlns:p14="http://schemas.microsoft.com/office/powerpoint/2010/main" val="1861481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4_30A4A67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7_7DE8A7D9.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6_C683F6FE.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6000" b="-6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80941A-54FD-5141-9DA4-48F9159258E8}"/>
              </a:ext>
            </a:extLst>
          </p:cNvPr>
          <p:cNvSpPr/>
          <p:nvPr/>
        </p:nvSpPr>
        <p:spPr>
          <a:xfrm>
            <a:off x="8260600" y="4470383"/>
            <a:ext cx="3931400" cy="19442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9" tIns="45721" rIns="91439" bIns="45721" numCol="1" spcCol="0" rtlCol="0" fromWordArt="0" anchor="ctr" anchorCtr="0" forceAA="0" compatLnSpc="1">
            <a:prstTxWarp prst="textNoShape">
              <a:avLst/>
            </a:prstTxWarp>
            <a:noAutofit/>
          </a:bodyPr>
          <a:lstStyle/>
          <a:p>
            <a:pPr algn="ctr"/>
            <a:endParaRPr lang="en-US" sz="681">
              <a:solidFill>
                <a:schemeClr val="tx2"/>
              </a:solidFill>
            </a:endParaRPr>
          </a:p>
        </p:txBody>
      </p:sp>
      <p:pic>
        <p:nvPicPr>
          <p:cNvPr id="5" name="Picture 4">
            <a:extLst>
              <a:ext uri="{FF2B5EF4-FFF2-40B4-BE49-F238E27FC236}">
                <a16:creationId xmlns:a16="http://schemas.microsoft.com/office/drawing/2014/main" id="{41B93C6D-0F44-6949-B07A-84A99C5E3B19}"/>
              </a:ext>
            </a:extLst>
          </p:cNvPr>
          <p:cNvPicPr>
            <a:picLocks noChangeAspect="1"/>
          </p:cNvPicPr>
          <p:nvPr/>
        </p:nvPicPr>
        <p:blipFill>
          <a:blip r:embed="rId4"/>
          <a:srcRect/>
          <a:stretch/>
        </p:blipFill>
        <p:spPr>
          <a:xfrm>
            <a:off x="9233216" y="4929281"/>
            <a:ext cx="2492734" cy="1026420"/>
          </a:xfrm>
          <a:prstGeom prst="rect">
            <a:avLst/>
          </a:prstGeom>
        </p:spPr>
      </p:pic>
      <p:sp>
        <p:nvSpPr>
          <p:cNvPr id="4" name="Title 3">
            <a:extLst>
              <a:ext uri="{FF2B5EF4-FFF2-40B4-BE49-F238E27FC236}">
                <a16:creationId xmlns:a16="http://schemas.microsoft.com/office/drawing/2014/main" id="{860BC14A-9617-8347-89A5-132851B0ED5E}"/>
              </a:ext>
            </a:extLst>
          </p:cNvPr>
          <p:cNvSpPr txBox="1">
            <a:spLocks/>
          </p:cNvSpPr>
          <p:nvPr/>
        </p:nvSpPr>
        <p:spPr>
          <a:xfrm>
            <a:off x="238126" y="4470382"/>
            <a:ext cx="7400924" cy="1492267"/>
          </a:xfrm>
          <a:prstGeom prst="rect">
            <a:avLst/>
          </a:prstGeom>
          <a:solidFill>
            <a:schemeClr val="accent2">
              <a:alpha val="54000"/>
            </a:schemeClr>
          </a:solidFill>
          <a:ln>
            <a:noFill/>
          </a:ln>
        </p:spPr>
        <p:txBody>
          <a:bodyPr lIns="91440" tIns="45720" rIns="91440" bIns="45720" anchor="t">
            <a:noAutofit/>
          </a:bodyPr>
          <a:lstStyle>
            <a:lvl1pPr algn="l" defTabSz="914351" rtl="0" eaLnBrk="1" latinLnBrk="0" hangingPunct="1">
              <a:lnSpc>
                <a:spcPct val="90000"/>
              </a:lnSpc>
              <a:spcBef>
                <a:spcPct val="0"/>
              </a:spcBef>
              <a:buNone/>
              <a:defRPr sz="4399" kern="1200">
                <a:solidFill>
                  <a:schemeClr val="tx1"/>
                </a:solidFill>
                <a:latin typeface="+mj-lt"/>
                <a:ea typeface="+mj-ea"/>
                <a:cs typeface="+mj-cs"/>
              </a:defRPr>
            </a:lvl1pPr>
          </a:lstStyle>
          <a:p>
            <a:r>
              <a:rPr lang="en-NZ" sz="2800" b="1" i="0" dirty="0">
                <a:solidFill>
                  <a:srgbClr val="404040"/>
                </a:solidFill>
                <a:effectLst/>
                <a:latin typeface="Montserrat"/>
              </a:rPr>
              <a:t>Power BI Audit Log Analysis; Usage Metrics Across the Entire Emerge Tenant</a:t>
            </a:r>
          </a:p>
          <a:p>
            <a:endParaRPr lang="en-US" sz="6000" b="1" dirty="0">
              <a:solidFill>
                <a:schemeClr val="bg1"/>
              </a:solidFill>
              <a:latin typeface="Verdana"/>
              <a:ea typeface="Verdana"/>
              <a:cs typeface="Verdana"/>
            </a:endParaRPr>
          </a:p>
          <a:p>
            <a:r>
              <a:rPr lang="en-US" sz="2000" dirty="0">
                <a:latin typeface="Verdana"/>
                <a:ea typeface="Verdana"/>
                <a:cs typeface="Verdana"/>
              </a:rPr>
              <a:t>Lightweight Technical Design</a:t>
            </a:r>
          </a:p>
          <a:p>
            <a:r>
              <a:rPr lang="en-US" sz="2000" dirty="0">
                <a:latin typeface="Verdana"/>
                <a:ea typeface="Verdana"/>
                <a:cs typeface="Verdana"/>
              </a:rPr>
              <a:t>Author: Manish Singh</a:t>
            </a:r>
          </a:p>
          <a:p>
            <a:endParaRPr lang="en-US" sz="6000" b="1" dirty="0">
              <a:latin typeface="Verdana"/>
              <a:ea typeface="Verdana"/>
              <a:cs typeface="Verdana"/>
            </a:endParaRPr>
          </a:p>
        </p:txBody>
      </p:sp>
      <p:sp>
        <p:nvSpPr>
          <p:cNvPr id="8" name="Rectangle 7">
            <a:extLst>
              <a:ext uri="{FF2B5EF4-FFF2-40B4-BE49-F238E27FC236}">
                <a16:creationId xmlns:a16="http://schemas.microsoft.com/office/drawing/2014/main" id="{1147EF3C-5479-A59E-D377-4C6FD60A34E2}"/>
              </a:ext>
            </a:extLst>
          </p:cNvPr>
          <p:cNvSpPr/>
          <p:nvPr/>
        </p:nvSpPr>
        <p:spPr>
          <a:xfrm>
            <a:off x="0" y="6719816"/>
            <a:ext cx="781235" cy="1381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816096884"/>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2F0CA62-2D0F-A8EE-8070-6445BC2E4A37}"/>
              </a:ext>
            </a:extLst>
          </p:cNvPr>
          <p:cNvGraphicFramePr>
            <a:graphicFrameLocks noGrp="1"/>
          </p:cNvGraphicFramePr>
          <p:nvPr>
            <p:extLst>
              <p:ext uri="{D42A27DB-BD31-4B8C-83A1-F6EECF244321}">
                <p14:modId xmlns:p14="http://schemas.microsoft.com/office/powerpoint/2010/main" val="260304356"/>
              </p:ext>
            </p:extLst>
          </p:nvPr>
        </p:nvGraphicFramePr>
        <p:xfrm>
          <a:off x="3246476" y="1378188"/>
          <a:ext cx="6640195" cy="966788"/>
        </p:xfrm>
        <a:graphic>
          <a:graphicData uri="http://schemas.openxmlformats.org/drawingml/2006/table">
            <a:tbl>
              <a:tblPr firstRow="1" firstCol="1" bandRow="1">
                <a:tableStyleId>{F5AB1C69-6EDB-4FF4-983F-18BD219EF322}</a:tableStyleId>
              </a:tblPr>
              <a:tblGrid>
                <a:gridCol w="1482725">
                  <a:extLst>
                    <a:ext uri="{9D8B030D-6E8A-4147-A177-3AD203B41FA5}">
                      <a16:colId xmlns:a16="http://schemas.microsoft.com/office/drawing/2014/main" val="4047303008"/>
                    </a:ext>
                  </a:extLst>
                </a:gridCol>
                <a:gridCol w="5157470">
                  <a:extLst>
                    <a:ext uri="{9D8B030D-6E8A-4147-A177-3AD203B41FA5}">
                      <a16:colId xmlns:a16="http://schemas.microsoft.com/office/drawing/2014/main" val="2956539788"/>
                    </a:ext>
                  </a:extLst>
                </a:gridCol>
              </a:tblGrid>
              <a:tr h="0">
                <a:tc>
                  <a:txBody>
                    <a:bodyPr/>
                    <a:lstStyle/>
                    <a:p>
                      <a:pPr>
                        <a:lnSpc>
                          <a:spcPct val="107000"/>
                        </a:lnSpc>
                        <a:spcAft>
                          <a:spcPts val="800"/>
                        </a:spcAft>
                      </a:pPr>
                      <a:r>
                        <a:rPr lang="en-US" sz="1100" kern="0">
                          <a:effectLst/>
                        </a:rPr>
                        <a:t>Term</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Definition</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750864346"/>
                  </a:ext>
                </a:extLst>
              </a:tr>
              <a:tr h="0">
                <a:tc>
                  <a:txBody>
                    <a:bodyPr/>
                    <a:lstStyle/>
                    <a:p>
                      <a:pPr>
                        <a:lnSpc>
                          <a:spcPct val="107000"/>
                        </a:lnSpc>
                        <a:spcAft>
                          <a:spcPts val="800"/>
                        </a:spcAft>
                      </a:pPr>
                      <a:r>
                        <a:rPr lang="en-US" sz="1000" kern="0" dirty="0">
                          <a:effectLst/>
                        </a:rPr>
                        <a:t> </a:t>
                      </a:r>
                      <a:r>
                        <a:rPr lang="en-NZ" sz="1000" b="0" i="0" kern="1200" dirty="0">
                          <a:solidFill>
                            <a:schemeClr val="lt1"/>
                          </a:solidFill>
                          <a:effectLst/>
                          <a:latin typeface="+mn-lt"/>
                          <a:ea typeface="+mn-ea"/>
                          <a:cs typeface="+mn-cs"/>
                        </a:rPr>
                        <a:t>usage metrics</a:t>
                      </a:r>
                      <a:endParaRPr lang="en-NZ" sz="10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dirty="0">
                          <a:effectLst/>
                        </a:rPr>
                        <a:t> This is users activity recorded against </a:t>
                      </a:r>
                      <a:r>
                        <a:rPr lang="en-US" sz="1100" kern="0" dirty="0" err="1">
                          <a:effectLst/>
                        </a:rPr>
                        <a:t>PowerBI</a:t>
                      </a:r>
                      <a:r>
                        <a:rPr lang="en-US" sz="1100" kern="0" dirty="0">
                          <a:effectLst/>
                        </a:rPr>
                        <a:t> report dataset </a:t>
                      </a:r>
                      <a:r>
                        <a:rPr lang="en-US" sz="1100" kern="0" dirty="0" err="1">
                          <a:effectLst/>
                        </a:rPr>
                        <a:t>etc</a:t>
                      </a:r>
                      <a:r>
                        <a:rPr lang="en-US" sz="1100" kern="0" dirty="0">
                          <a:effectLst/>
                        </a:rPr>
                        <a:t> </a:t>
                      </a:r>
                    </a:p>
                    <a:p>
                      <a:pPr>
                        <a:lnSpc>
                          <a:spcPct val="107000"/>
                        </a:lnSpc>
                        <a:spcAft>
                          <a:spcPts val="800"/>
                        </a:spcAft>
                      </a:pP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498558305"/>
                  </a:ext>
                </a:extLst>
              </a:tr>
              <a:tr h="0">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1183850851"/>
                  </a:ext>
                </a:extLst>
              </a:tr>
              <a:tr h="0">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dirty="0">
                          <a:effectLst/>
                        </a:rPr>
                        <a:t> </a:t>
                      </a: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1140506414"/>
                  </a:ext>
                </a:extLst>
              </a:tr>
            </a:tbl>
          </a:graphicData>
        </a:graphic>
      </p:graphicFrame>
      <p:graphicFrame>
        <p:nvGraphicFramePr>
          <p:cNvPr id="3" name="Table 2">
            <a:extLst>
              <a:ext uri="{FF2B5EF4-FFF2-40B4-BE49-F238E27FC236}">
                <a16:creationId xmlns:a16="http://schemas.microsoft.com/office/drawing/2014/main" id="{EDDC6168-77AB-FDDA-F0FE-F579248E61F6}"/>
              </a:ext>
            </a:extLst>
          </p:cNvPr>
          <p:cNvGraphicFramePr>
            <a:graphicFrameLocks noGrp="1"/>
          </p:cNvGraphicFramePr>
          <p:nvPr>
            <p:extLst>
              <p:ext uri="{D42A27DB-BD31-4B8C-83A1-F6EECF244321}">
                <p14:modId xmlns:p14="http://schemas.microsoft.com/office/powerpoint/2010/main" val="3047489239"/>
              </p:ext>
            </p:extLst>
          </p:nvPr>
        </p:nvGraphicFramePr>
        <p:xfrm>
          <a:off x="3264731" y="2614979"/>
          <a:ext cx="6640195" cy="708660"/>
        </p:xfrm>
        <a:graphic>
          <a:graphicData uri="http://schemas.openxmlformats.org/drawingml/2006/table">
            <a:tbl>
              <a:tblPr firstRow="1" firstCol="1" bandRow="1">
                <a:tableStyleId>{F5AB1C69-6EDB-4FF4-983F-18BD219EF322}</a:tableStyleId>
              </a:tblPr>
              <a:tblGrid>
                <a:gridCol w="3319780">
                  <a:extLst>
                    <a:ext uri="{9D8B030D-6E8A-4147-A177-3AD203B41FA5}">
                      <a16:colId xmlns:a16="http://schemas.microsoft.com/office/drawing/2014/main" val="2884970415"/>
                    </a:ext>
                  </a:extLst>
                </a:gridCol>
                <a:gridCol w="3320415">
                  <a:extLst>
                    <a:ext uri="{9D8B030D-6E8A-4147-A177-3AD203B41FA5}">
                      <a16:colId xmlns:a16="http://schemas.microsoft.com/office/drawing/2014/main" val="3326142268"/>
                    </a:ext>
                  </a:extLst>
                </a:gridCol>
              </a:tblGrid>
              <a:tr h="0">
                <a:tc>
                  <a:txBody>
                    <a:bodyPr/>
                    <a:lstStyle/>
                    <a:p>
                      <a:pPr>
                        <a:lnSpc>
                          <a:spcPct val="107000"/>
                        </a:lnSpc>
                        <a:spcAft>
                          <a:spcPts val="800"/>
                        </a:spcAft>
                      </a:pPr>
                      <a:r>
                        <a:rPr lang="en-US" sz="1100" kern="0">
                          <a:effectLst/>
                        </a:rPr>
                        <a:t>Location:</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T="91440" marB="91440" anchor="ctr"/>
                </a:tc>
                <a:tc>
                  <a:txBody>
                    <a:bodyPr/>
                    <a:lstStyle/>
                    <a:p>
                      <a:pPr>
                        <a:lnSpc>
                          <a:spcPct val="107000"/>
                        </a:lnSpc>
                        <a:spcAft>
                          <a:spcPts val="800"/>
                        </a:spcAft>
                      </a:pPr>
                      <a:r>
                        <a:rPr lang="en-US" sz="1100" kern="0">
                          <a:effectLst/>
                        </a:rPr>
                        <a:t>&lt;Location of the document&gt;</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3218953583"/>
                  </a:ext>
                </a:extLst>
              </a:tr>
              <a:tr h="0">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T="91440" marB="91440" anchor="ctr"/>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1235677201"/>
                  </a:ext>
                </a:extLst>
              </a:tr>
            </a:tbl>
          </a:graphicData>
        </a:graphic>
      </p:graphicFrame>
      <p:graphicFrame>
        <p:nvGraphicFramePr>
          <p:cNvPr id="4" name="Table 3">
            <a:extLst>
              <a:ext uri="{FF2B5EF4-FFF2-40B4-BE49-F238E27FC236}">
                <a16:creationId xmlns:a16="http://schemas.microsoft.com/office/drawing/2014/main" id="{E15FD73E-F03E-2E33-E1D9-A74EC5E50B9E}"/>
              </a:ext>
            </a:extLst>
          </p:cNvPr>
          <p:cNvGraphicFramePr>
            <a:graphicFrameLocks noGrp="1"/>
          </p:cNvGraphicFramePr>
          <p:nvPr>
            <p:extLst>
              <p:ext uri="{D42A27DB-BD31-4B8C-83A1-F6EECF244321}">
                <p14:modId xmlns:p14="http://schemas.microsoft.com/office/powerpoint/2010/main" val="4025457452"/>
              </p:ext>
            </p:extLst>
          </p:nvPr>
        </p:nvGraphicFramePr>
        <p:xfrm>
          <a:off x="3246475" y="5338187"/>
          <a:ext cx="6658451" cy="857250"/>
        </p:xfrm>
        <a:graphic>
          <a:graphicData uri="http://schemas.openxmlformats.org/drawingml/2006/table">
            <a:tbl>
              <a:tblPr firstRow="1" firstCol="1" bandRow="1">
                <a:tableStyleId>{F5AB1C69-6EDB-4FF4-983F-18BD219EF322}</a:tableStyleId>
              </a:tblPr>
              <a:tblGrid>
                <a:gridCol w="729298">
                  <a:extLst>
                    <a:ext uri="{9D8B030D-6E8A-4147-A177-3AD203B41FA5}">
                      <a16:colId xmlns:a16="http://schemas.microsoft.com/office/drawing/2014/main" val="1879293982"/>
                    </a:ext>
                  </a:extLst>
                </a:gridCol>
                <a:gridCol w="999545">
                  <a:extLst>
                    <a:ext uri="{9D8B030D-6E8A-4147-A177-3AD203B41FA5}">
                      <a16:colId xmlns:a16="http://schemas.microsoft.com/office/drawing/2014/main" val="864545952"/>
                    </a:ext>
                  </a:extLst>
                </a:gridCol>
                <a:gridCol w="1465999">
                  <a:extLst>
                    <a:ext uri="{9D8B030D-6E8A-4147-A177-3AD203B41FA5}">
                      <a16:colId xmlns:a16="http://schemas.microsoft.com/office/drawing/2014/main" val="3271687627"/>
                    </a:ext>
                  </a:extLst>
                </a:gridCol>
                <a:gridCol w="1532636">
                  <a:extLst>
                    <a:ext uri="{9D8B030D-6E8A-4147-A177-3AD203B41FA5}">
                      <a16:colId xmlns:a16="http://schemas.microsoft.com/office/drawing/2014/main" val="2442109311"/>
                    </a:ext>
                  </a:extLst>
                </a:gridCol>
                <a:gridCol w="1930973">
                  <a:extLst>
                    <a:ext uri="{9D8B030D-6E8A-4147-A177-3AD203B41FA5}">
                      <a16:colId xmlns:a16="http://schemas.microsoft.com/office/drawing/2014/main" val="282476534"/>
                    </a:ext>
                  </a:extLst>
                </a:gridCol>
              </a:tblGrid>
              <a:tr h="0">
                <a:tc>
                  <a:txBody>
                    <a:bodyPr/>
                    <a:lstStyle/>
                    <a:p>
                      <a:pPr>
                        <a:lnSpc>
                          <a:spcPct val="107000"/>
                        </a:lnSpc>
                        <a:spcAft>
                          <a:spcPts val="800"/>
                        </a:spcAft>
                      </a:pPr>
                      <a:r>
                        <a:rPr lang="en-US" sz="1100" kern="0">
                          <a:effectLst/>
                        </a:rPr>
                        <a:t>Version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Date Issued</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Author</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Authoriser</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Description</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3561900605"/>
                  </a:ext>
                </a:extLst>
              </a:tr>
              <a:tr h="0">
                <a:tc>
                  <a:txBody>
                    <a:bodyPr/>
                    <a:lstStyle/>
                    <a:p>
                      <a:pPr>
                        <a:lnSpc>
                          <a:spcPct val="107000"/>
                        </a:lnSpc>
                        <a:spcAft>
                          <a:spcPts val="800"/>
                        </a:spcAft>
                      </a:pPr>
                      <a:r>
                        <a:rPr lang="en-US" sz="1100" kern="0">
                          <a:effectLst/>
                        </a:rPr>
                        <a:t>0.1</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564907132"/>
                  </a:ext>
                </a:extLst>
              </a:tr>
              <a:tr h="0">
                <a:tc>
                  <a:txBody>
                    <a:bodyPr/>
                    <a:lstStyle/>
                    <a:p>
                      <a:pPr>
                        <a:lnSpc>
                          <a:spcPct val="107000"/>
                        </a:lnSpc>
                        <a:spcAft>
                          <a:spcPts val="800"/>
                        </a:spcAft>
                      </a:pPr>
                      <a:r>
                        <a:rPr lang="en-US" sz="1100" kern="0">
                          <a:effectLst/>
                        </a:rPr>
                        <a:t>0.2</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028701710"/>
                  </a:ext>
                </a:extLst>
              </a:tr>
              <a:tr h="0">
                <a:tc>
                  <a:txBody>
                    <a:bodyPr/>
                    <a:lstStyle/>
                    <a:p>
                      <a:pPr>
                        <a:lnSpc>
                          <a:spcPct val="107000"/>
                        </a:lnSpc>
                        <a:spcAft>
                          <a:spcPts val="800"/>
                        </a:spcAft>
                      </a:pPr>
                      <a:r>
                        <a:rPr lang="en-US" sz="1100" kern="0">
                          <a:effectLst/>
                        </a:rPr>
                        <a:t>0.3</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715166626"/>
                  </a:ext>
                </a:extLst>
              </a:tr>
              <a:tr h="0">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4275702089"/>
                  </a:ext>
                </a:extLst>
              </a:tr>
            </a:tbl>
          </a:graphicData>
        </a:graphic>
      </p:graphicFrame>
      <p:graphicFrame>
        <p:nvGraphicFramePr>
          <p:cNvPr id="5" name="Table 4">
            <a:extLst>
              <a:ext uri="{FF2B5EF4-FFF2-40B4-BE49-F238E27FC236}">
                <a16:creationId xmlns:a16="http://schemas.microsoft.com/office/drawing/2014/main" id="{EB387EAB-BEA2-11CF-A7E4-69D6F0B75BE2}"/>
              </a:ext>
            </a:extLst>
          </p:cNvPr>
          <p:cNvGraphicFramePr>
            <a:graphicFrameLocks noGrp="1"/>
          </p:cNvGraphicFramePr>
          <p:nvPr>
            <p:extLst>
              <p:ext uri="{D42A27DB-BD31-4B8C-83A1-F6EECF244321}">
                <p14:modId xmlns:p14="http://schemas.microsoft.com/office/powerpoint/2010/main" val="4152821040"/>
              </p:ext>
            </p:extLst>
          </p:nvPr>
        </p:nvGraphicFramePr>
        <p:xfrm>
          <a:off x="3246475" y="3871942"/>
          <a:ext cx="6640194" cy="857250"/>
        </p:xfrm>
        <a:graphic>
          <a:graphicData uri="http://schemas.openxmlformats.org/drawingml/2006/table">
            <a:tbl>
              <a:tblPr firstRow="1" firstCol="1" bandRow="1">
                <a:tableStyleId>{F5AB1C69-6EDB-4FF4-983F-18BD219EF322}</a:tableStyleId>
              </a:tblPr>
              <a:tblGrid>
                <a:gridCol w="722717">
                  <a:extLst>
                    <a:ext uri="{9D8B030D-6E8A-4147-A177-3AD203B41FA5}">
                      <a16:colId xmlns:a16="http://schemas.microsoft.com/office/drawing/2014/main" val="906362801"/>
                    </a:ext>
                  </a:extLst>
                </a:gridCol>
                <a:gridCol w="990526">
                  <a:extLst>
                    <a:ext uri="{9D8B030D-6E8A-4147-A177-3AD203B41FA5}">
                      <a16:colId xmlns:a16="http://schemas.microsoft.com/office/drawing/2014/main" val="365630779"/>
                    </a:ext>
                  </a:extLst>
                </a:gridCol>
                <a:gridCol w="1452772">
                  <a:extLst>
                    <a:ext uri="{9D8B030D-6E8A-4147-A177-3AD203B41FA5}">
                      <a16:colId xmlns:a16="http://schemas.microsoft.com/office/drawing/2014/main" val="3397237501"/>
                    </a:ext>
                  </a:extLst>
                </a:gridCol>
                <a:gridCol w="1518807">
                  <a:extLst>
                    <a:ext uri="{9D8B030D-6E8A-4147-A177-3AD203B41FA5}">
                      <a16:colId xmlns:a16="http://schemas.microsoft.com/office/drawing/2014/main" val="271004313"/>
                    </a:ext>
                  </a:extLst>
                </a:gridCol>
                <a:gridCol w="1955372">
                  <a:extLst>
                    <a:ext uri="{9D8B030D-6E8A-4147-A177-3AD203B41FA5}">
                      <a16:colId xmlns:a16="http://schemas.microsoft.com/office/drawing/2014/main" val="1365985088"/>
                    </a:ext>
                  </a:extLst>
                </a:gridCol>
              </a:tblGrid>
              <a:tr h="0">
                <a:tc>
                  <a:txBody>
                    <a:bodyPr/>
                    <a:lstStyle/>
                    <a:p>
                      <a:pPr>
                        <a:lnSpc>
                          <a:spcPct val="107000"/>
                        </a:lnSpc>
                        <a:spcAft>
                          <a:spcPts val="800"/>
                        </a:spcAft>
                      </a:pPr>
                      <a:r>
                        <a:rPr lang="en-US" sz="1100" kern="0">
                          <a:effectLst/>
                        </a:rPr>
                        <a:t>Version</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Date</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Name</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Role</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Signature</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1354902188"/>
                  </a:ext>
                </a:extLst>
              </a:tr>
              <a:tr h="0">
                <a:tc>
                  <a:txBody>
                    <a:bodyPr/>
                    <a:lstStyle/>
                    <a:p>
                      <a:pPr>
                        <a:lnSpc>
                          <a:spcPct val="107000"/>
                        </a:lnSpc>
                        <a:spcAft>
                          <a:spcPts val="800"/>
                        </a:spcAft>
                      </a:pPr>
                      <a:r>
                        <a:rPr lang="en-US" sz="1100" kern="0">
                          <a:effectLst/>
                        </a:rPr>
                        <a:t>1.0</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dirty="0">
                          <a:effectLst/>
                        </a:rPr>
                        <a:t> 28/08/2023</a:t>
                      </a: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dirty="0">
                          <a:effectLst/>
                        </a:rPr>
                        <a:t> Manish</a:t>
                      </a: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dirty="0">
                          <a:effectLst/>
                        </a:rPr>
                        <a:t> BI developer</a:t>
                      </a: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3243103956"/>
                  </a:ext>
                </a:extLst>
              </a:tr>
              <a:tr h="0">
                <a:tc>
                  <a:txBody>
                    <a:bodyPr/>
                    <a:lstStyle/>
                    <a:p>
                      <a:pPr>
                        <a:lnSpc>
                          <a:spcPct val="107000"/>
                        </a:lnSpc>
                        <a:spcAft>
                          <a:spcPts val="800"/>
                        </a:spcAft>
                      </a:pPr>
                      <a:r>
                        <a:rPr lang="en-US" sz="1100" kern="0" dirty="0">
                          <a:effectLst/>
                        </a:rPr>
                        <a:t> </a:t>
                      </a: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1300461038"/>
                  </a:ext>
                </a:extLst>
              </a:tr>
              <a:tr h="0">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3189465763"/>
                  </a:ext>
                </a:extLst>
              </a:tr>
              <a:tr h="0">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a:effectLst/>
                        </a:rPr>
                        <a:t> </a:t>
                      </a:r>
                      <a:endParaRPr lang="en-NZ" sz="1100" kern="10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nSpc>
                          <a:spcPct val="107000"/>
                        </a:lnSpc>
                        <a:spcAft>
                          <a:spcPts val="800"/>
                        </a:spcAft>
                      </a:pPr>
                      <a:r>
                        <a:rPr lang="en-US" sz="1100" kern="0" dirty="0">
                          <a:effectLst/>
                        </a:rPr>
                        <a:t> </a:t>
                      </a:r>
                      <a:endParaRPr lang="en-NZ" sz="1100" kern="100" dirty="0">
                        <a:solidFill>
                          <a:srgbClr val="333333"/>
                        </a:solidFill>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180889942"/>
                  </a:ext>
                </a:extLst>
              </a:tr>
            </a:tbl>
          </a:graphicData>
        </a:graphic>
      </p:graphicFrame>
      <p:sp>
        <p:nvSpPr>
          <p:cNvPr id="8" name="TextBox 7">
            <a:extLst>
              <a:ext uri="{FF2B5EF4-FFF2-40B4-BE49-F238E27FC236}">
                <a16:creationId xmlns:a16="http://schemas.microsoft.com/office/drawing/2014/main" id="{EF66E027-9FE5-9608-1C7D-F0963262ADDB}"/>
              </a:ext>
            </a:extLst>
          </p:cNvPr>
          <p:cNvSpPr txBox="1"/>
          <p:nvPr/>
        </p:nvSpPr>
        <p:spPr>
          <a:xfrm>
            <a:off x="961548" y="1351756"/>
            <a:ext cx="2221599"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1800" b="0" i="0" u="none" strike="noStrike" cap="none" normalizeH="0" baseline="0" bmk="">
                <a:ln>
                  <a:noFill/>
                </a:ln>
                <a:effectLst/>
                <a:latin typeface="Calibri" panose="020F0502020204030204" pitchFamily="34" charset="0"/>
                <a:ea typeface="Calibri" panose="020F0502020204030204" pitchFamily="34" charset="0"/>
                <a:cs typeface="Calibri" panose="020F0502020204030204" pitchFamily="34" charset="0"/>
              </a:rPr>
              <a:t>Definitions</a:t>
            </a:r>
            <a:endParaRPr kumimoji="0" lang="en-NZ" altLang="en-US" sz="800" b="0" i="0" u="none" strike="noStrike" cap="none" normalizeH="0" baseline="0" bmk="">
              <a:ln>
                <a:noFill/>
              </a:ln>
              <a:effectLst/>
            </a:endParaRPr>
          </a:p>
        </p:txBody>
      </p:sp>
      <p:sp>
        <p:nvSpPr>
          <p:cNvPr id="10" name="TextBox 9">
            <a:extLst>
              <a:ext uri="{FF2B5EF4-FFF2-40B4-BE49-F238E27FC236}">
                <a16:creationId xmlns:a16="http://schemas.microsoft.com/office/drawing/2014/main" id="{980FA67B-9BAC-D890-4A0B-F31D3848D871}"/>
              </a:ext>
            </a:extLst>
          </p:cNvPr>
          <p:cNvSpPr txBox="1"/>
          <p:nvPr/>
        </p:nvSpPr>
        <p:spPr>
          <a:xfrm>
            <a:off x="961548" y="3844012"/>
            <a:ext cx="2221599"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1800" b="0" i="0" u="none" strike="noStrike" cap="none" normalizeH="0" baseline="0" bmk="">
                <a:ln>
                  <a:noFill/>
                </a:ln>
                <a:effectLst/>
                <a:latin typeface="Calibri" panose="020F0502020204030204" pitchFamily="34" charset="0"/>
                <a:ea typeface="Calibri" panose="020F0502020204030204" pitchFamily="34" charset="0"/>
                <a:cs typeface="Calibri" panose="020F0502020204030204" pitchFamily="34" charset="0"/>
              </a:rPr>
              <a:t>Revision history</a:t>
            </a:r>
          </a:p>
        </p:txBody>
      </p:sp>
      <p:sp>
        <p:nvSpPr>
          <p:cNvPr id="12" name="TextBox 11">
            <a:extLst>
              <a:ext uri="{FF2B5EF4-FFF2-40B4-BE49-F238E27FC236}">
                <a16:creationId xmlns:a16="http://schemas.microsoft.com/office/drawing/2014/main" id="{021DD47A-AA92-97F3-6703-9EFF6A4A13F6}"/>
              </a:ext>
            </a:extLst>
          </p:cNvPr>
          <p:cNvSpPr txBox="1"/>
          <p:nvPr/>
        </p:nvSpPr>
        <p:spPr>
          <a:xfrm>
            <a:off x="961548" y="5254903"/>
            <a:ext cx="2221599"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1800" b="0" i="0" u="none" strike="noStrike" cap="none" normalizeH="0" baseline="0" bmk="">
                <a:ln>
                  <a:noFill/>
                </a:ln>
                <a:effectLst/>
                <a:latin typeface="Calibri" panose="020F0502020204030204" pitchFamily="34" charset="0"/>
                <a:ea typeface="DengXian" panose="02010600030101010101" pitchFamily="2" charset="-122"/>
                <a:cs typeface="Calibri" panose="020F0502020204030204" pitchFamily="34" charset="0"/>
              </a:rPr>
              <a:t>Document Sign Off</a:t>
            </a:r>
            <a:endParaRPr kumimoji="0" lang="en-NZ" altLang="en-US" sz="2800" b="0" i="0" u="none" strike="noStrike" cap="none" normalizeH="0" baseline="0">
              <a:ln>
                <a:noFill/>
              </a:ln>
              <a:effectLst/>
              <a:latin typeface="Arial" panose="020B0604020202020204" pitchFamily="34" charset="0"/>
            </a:endParaRPr>
          </a:p>
        </p:txBody>
      </p:sp>
      <p:sp>
        <p:nvSpPr>
          <p:cNvPr id="14" name="TextBox 13">
            <a:extLst>
              <a:ext uri="{FF2B5EF4-FFF2-40B4-BE49-F238E27FC236}">
                <a16:creationId xmlns:a16="http://schemas.microsoft.com/office/drawing/2014/main" id="{9CFDDDEC-2C60-637E-197F-E674C3251447}"/>
              </a:ext>
            </a:extLst>
          </p:cNvPr>
          <p:cNvSpPr txBox="1"/>
          <p:nvPr/>
        </p:nvSpPr>
        <p:spPr>
          <a:xfrm>
            <a:off x="961548" y="2574042"/>
            <a:ext cx="2284927"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1800" b="0" i="0" u="none" strike="noStrike" cap="none" normalizeH="0" baseline="0" bmk="">
                <a:ln>
                  <a:noFill/>
                </a:ln>
                <a:effectLst/>
                <a:latin typeface="Calibri" panose="020F0502020204030204" pitchFamily="34" charset="0"/>
                <a:ea typeface="DengXian" panose="02010600030101010101" pitchFamily="2" charset="-122"/>
                <a:cs typeface="Calibri" panose="020F0502020204030204" pitchFamily="34" charset="0"/>
              </a:rPr>
              <a:t>Location</a:t>
            </a:r>
          </a:p>
        </p:txBody>
      </p:sp>
      <p:sp>
        <p:nvSpPr>
          <p:cNvPr id="16" name="TextBox 15">
            <a:extLst>
              <a:ext uri="{FF2B5EF4-FFF2-40B4-BE49-F238E27FC236}">
                <a16:creationId xmlns:a16="http://schemas.microsoft.com/office/drawing/2014/main" id="{1E382F34-A817-867C-2F1B-F791379442BF}"/>
              </a:ext>
            </a:extLst>
          </p:cNvPr>
          <p:cNvSpPr txBox="1"/>
          <p:nvPr/>
        </p:nvSpPr>
        <p:spPr>
          <a:xfrm>
            <a:off x="961548" y="310197"/>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a:ln>
                  <a:noFill/>
                </a:ln>
                <a:effectLst/>
                <a:latin typeface="Calibri" panose="020F0502020204030204" pitchFamily="34" charset="0"/>
                <a:ea typeface="DengXian Light" panose="02010600030101010101" pitchFamily="2" charset="-122"/>
                <a:cs typeface="Calibri" panose="020F0502020204030204" pitchFamily="34" charset="0"/>
              </a:rPr>
              <a:t>D</a:t>
            </a:r>
            <a:r>
              <a:rPr kumimoji="0" lang="en-NZ" altLang="en-US" sz="3200" b="0" i="0" u="none" strike="noStrike" cap="none" normalizeH="0" baseline="0" bmk="">
                <a:ln>
                  <a:noFill/>
                </a:ln>
                <a:effectLst/>
                <a:latin typeface="Calibri" panose="020F0502020204030204" pitchFamily="34" charset="0"/>
                <a:ea typeface="DengXian Light" panose="02010600030101010101" pitchFamily="2" charset="-122"/>
                <a:cs typeface="Calibri" panose="020F0502020204030204" pitchFamily="34" charset="0"/>
              </a:rPr>
              <a:t>ocument Control</a:t>
            </a:r>
            <a:endParaRPr kumimoji="0" lang="en-NZ" altLang="en-US" sz="3200" b="0" i="0" u="none" strike="noStrike" cap="none" normalizeH="0" baseline="0" bmk="">
              <a:ln>
                <a:noFill/>
              </a:ln>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18" name="Content Placeholder 5" descr="A black and white text&#10;&#10;Description automatically generated">
            <a:extLst>
              <a:ext uri="{FF2B5EF4-FFF2-40B4-BE49-F238E27FC236}">
                <a16:creationId xmlns:a16="http://schemas.microsoft.com/office/drawing/2014/main" id="{A3DFB7B2-B442-4546-9DA7-CF044CCFC669}"/>
              </a:ext>
            </a:extLst>
          </p:cNvPr>
          <p:cNvPicPr>
            <a:picLocks noChangeAspect="1"/>
          </p:cNvPicPr>
          <p:nvPr/>
        </p:nvPicPr>
        <p:blipFill>
          <a:blip r:embed="rId2"/>
          <a:stretch>
            <a:fillRect/>
          </a:stretch>
        </p:blipFill>
        <p:spPr>
          <a:xfrm>
            <a:off x="9537116" y="294568"/>
            <a:ext cx="1817426" cy="772938"/>
          </a:xfrm>
          <a:prstGeom prst="rect">
            <a:avLst/>
          </a:prstGeom>
        </p:spPr>
      </p:pic>
    </p:spTree>
    <p:extLst>
      <p:ext uri="{BB962C8B-B14F-4D97-AF65-F5344CB8AC3E}">
        <p14:creationId xmlns:p14="http://schemas.microsoft.com/office/powerpoint/2010/main" val="77538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E382F34-A817-867C-2F1B-F791379442BF}"/>
              </a:ext>
            </a:extLst>
          </p:cNvPr>
          <p:cNvSpPr txBox="1"/>
          <p:nvPr/>
        </p:nvSpPr>
        <p:spPr>
          <a:xfrm>
            <a:off x="837458" y="421175"/>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a:ln>
                  <a:noFill/>
                </a:ln>
                <a:solidFill>
                  <a:schemeClr val="accent2"/>
                </a:solidFill>
                <a:effectLst/>
                <a:latin typeface="Calibri" panose="020F0502020204030204" pitchFamily="34" charset="0"/>
                <a:ea typeface="DengXian Light" panose="02010600030101010101" pitchFamily="2" charset="-122"/>
                <a:cs typeface="Calibri" panose="020F0502020204030204" pitchFamily="34" charset="0"/>
              </a:rPr>
              <a:t>Business Problem Assessment</a:t>
            </a:r>
            <a:endParaRPr kumimoji="0" lang="en-NZ" altLang="en-US" sz="3200" b="0" i="0" u="none" strike="noStrike" cap="none" normalizeH="0" baseline="0" bmk="">
              <a:ln>
                <a:noFill/>
              </a:ln>
              <a:solidFill>
                <a:schemeClr val="accent2"/>
              </a:solidFill>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18" name="Content Placeholder 5" descr="A black and white text&#10;&#10;Description automatically generated">
            <a:extLst>
              <a:ext uri="{FF2B5EF4-FFF2-40B4-BE49-F238E27FC236}">
                <a16:creationId xmlns:a16="http://schemas.microsoft.com/office/drawing/2014/main" id="{A3DFB7B2-B442-4546-9DA7-CF044CCFC669}"/>
              </a:ext>
            </a:extLst>
          </p:cNvPr>
          <p:cNvPicPr>
            <a:picLocks noChangeAspect="1"/>
          </p:cNvPicPr>
          <p:nvPr/>
        </p:nvPicPr>
        <p:blipFill>
          <a:blip r:embed="rId3"/>
          <a:stretch>
            <a:fillRect/>
          </a:stretch>
        </p:blipFill>
        <p:spPr>
          <a:xfrm>
            <a:off x="9908591" y="233012"/>
            <a:ext cx="1817426" cy="772938"/>
          </a:xfrm>
          <a:prstGeom prst="rect">
            <a:avLst/>
          </a:prstGeom>
        </p:spPr>
      </p:pic>
      <p:graphicFrame>
        <p:nvGraphicFramePr>
          <p:cNvPr id="6" name="Table 5">
            <a:extLst>
              <a:ext uri="{FF2B5EF4-FFF2-40B4-BE49-F238E27FC236}">
                <a16:creationId xmlns:a16="http://schemas.microsoft.com/office/drawing/2014/main" id="{623EEDCC-90A5-9201-8406-B24DBEDC7233}"/>
              </a:ext>
            </a:extLst>
          </p:cNvPr>
          <p:cNvGraphicFramePr>
            <a:graphicFrameLocks noGrp="1"/>
          </p:cNvGraphicFramePr>
          <p:nvPr>
            <p:extLst>
              <p:ext uri="{D42A27DB-BD31-4B8C-83A1-F6EECF244321}">
                <p14:modId xmlns:p14="http://schemas.microsoft.com/office/powerpoint/2010/main" val="1888979446"/>
              </p:ext>
            </p:extLst>
          </p:nvPr>
        </p:nvGraphicFramePr>
        <p:xfrm>
          <a:off x="952235" y="2031131"/>
          <a:ext cx="5734315" cy="1228506"/>
        </p:xfrm>
        <a:graphic>
          <a:graphicData uri="http://schemas.openxmlformats.org/drawingml/2006/table">
            <a:tbl>
              <a:tblPr firstCol="1" bandRow="1">
                <a:tableStyleId>{F5AB1C69-6EDB-4FF4-983F-18BD219EF322}</a:tableStyleId>
              </a:tblPr>
              <a:tblGrid>
                <a:gridCol w="1161598">
                  <a:extLst>
                    <a:ext uri="{9D8B030D-6E8A-4147-A177-3AD203B41FA5}">
                      <a16:colId xmlns:a16="http://schemas.microsoft.com/office/drawing/2014/main" val="4123431260"/>
                    </a:ext>
                  </a:extLst>
                </a:gridCol>
                <a:gridCol w="1474915">
                  <a:extLst>
                    <a:ext uri="{9D8B030D-6E8A-4147-A177-3AD203B41FA5}">
                      <a16:colId xmlns:a16="http://schemas.microsoft.com/office/drawing/2014/main" val="956151099"/>
                    </a:ext>
                  </a:extLst>
                </a:gridCol>
                <a:gridCol w="3097802">
                  <a:extLst>
                    <a:ext uri="{9D8B030D-6E8A-4147-A177-3AD203B41FA5}">
                      <a16:colId xmlns:a16="http://schemas.microsoft.com/office/drawing/2014/main" val="4157516185"/>
                    </a:ext>
                  </a:extLst>
                </a:gridCol>
              </a:tblGrid>
              <a:tr h="233509">
                <a:tc>
                  <a:txBody>
                    <a:bodyPr/>
                    <a:lstStyle/>
                    <a:p>
                      <a:pPr>
                        <a:lnSpc>
                          <a:spcPct val="107000"/>
                        </a:lnSpc>
                        <a:spcAft>
                          <a:spcPts val="800"/>
                        </a:spcAft>
                      </a:pPr>
                      <a:r>
                        <a:rPr lang="en-NZ" sz="1100" kern="100">
                          <a:effectLst/>
                        </a:rPr>
                        <a:t>Requested By</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gridSpan="2">
                  <a:txBody>
                    <a:bodyPr/>
                    <a:lstStyle/>
                    <a:p>
                      <a:pPr>
                        <a:lnSpc>
                          <a:spcPct val="107000"/>
                        </a:lnSpc>
                        <a:spcAft>
                          <a:spcPts val="800"/>
                        </a:spcAft>
                      </a:pPr>
                      <a:r>
                        <a:rPr lang="en-NZ" sz="1100" kern="100" dirty="0">
                          <a:effectLst/>
                        </a:rPr>
                        <a:t> Chris Negus</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hMerge="1">
                  <a:txBody>
                    <a:bodyPr/>
                    <a:lstStyle/>
                    <a:p>
                      <a:endParaRPr lang="en-NZ"/>
                    </a:p>
                  </a:txBody>
                  <a:tcPr/>
                </a:tc>
                <a:extLst>
                  <a:ext uri="{0D108BD9-81ED-4DB2-BD59-A6C34878D82A}">
                    <a16:rowId xmlns:a16="http://schemas.microsoft.com/office/drawing/2014/main" val="612797548"/>
                  </a:ext>
                </a:extLst>
              </a:tr>
              <a:tr h="410650">
                <a:tc>
                  <a:txBody>
                    <a:bodyPr/>
                    <a:lstStyle/>
                    <a:p>
                      <a:pPr>
                        <a:lnSpc>
                          <a:spcPct val="107000"/>
                        </a:lnSpc>
                        <a:spcAft>
                          <a:spcPts val="800"/>
                        </a:spcAft>
                      </a:pPr>
                      <a:r>
                        <a:rPr lang="en-NZ" sz="1100" kern="100">
                          <a:effectLst/>
                        </a:rPr>
                        <a:t>Entity, Team or Service</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gridSpan="2">
                  <a:txBody>
                    <a:bodyPr/>
                    <a:lstStyle/>
                    <a:p>
                      <a:pPr>
                        <a:lnSpc>
                          <a:spcPct val="107000"/>
                        </a:lnSpc>
                        <a:spcAft>
                          <a:spcPts val="800"/>
                        </a:spcAft>
                      </a:pPr>
                      <a:r>
                        <a:rPr lang="en-NZ" sz="1100" kern="100" dirty="0">
                          <a:effectLst/>
                        </a:rPr>
                        <a:t> BI Team</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hMerge="1">
                  <a:txBody>
                    <a:bodyPr/>
                    <a:lstStyle/>
                    <a:p>
                      <a:endParaRPr lang="en-NZ"/>
                    </a:p>
                  </a:txBody>
                  <a:tcPr/>
                </a:tc>
                <a:extLst>
                  <a:ext uri="{0D108BD9-81ED-4DB2-BD59-A6C34878D82A}">
                    <a16:rowId xmlns:a16="http://schemas.microsoft.com/office/drawing/2014/main" val="3983560474"/>
                  </a:ext>
                </a:extLst>
              </a:tr>
              <a:tr h="233509">
                <a:tc>
                  <a:txBody>
                    <a:bodyPr/>
                    <a:lstStyle/>
                    <a:p>
                      <a:pPr>
                        <a:lnSpc>
                          <a:spcPct val="107000"/>
                        </a:lnSpc>
                        <a:spcAft>
                          <a:spcPts val="800"/>
                        </a:spcAft>
                      </a:pPr>
                      <a:r>
                        <a:rPr lang="en-NZ" sz="1100" kern="100">
                          <a:effectLst/>
                        </a:rPr>
                        <a:t>Urgency &amp; Impact</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pPr algn="ctr">
                        <a:lnSpc>
                          <a:spcPct val="107000"/>
                        </a:lnSpc>
                        <a:spcAft>
                          <a:spcPts val="800"/>
                        </a:spcAft>
                      </a:pPr>
                      <a:r>
                        <a:rPr lang="en-NZ" sz="1100" kern="100" dirty="0">
                          <a:effectLst/>
                        </a:rPr>
                        <a:t>Medium</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pPr algn="ctr">
                        <a:lnSpc>
                          <a:spcPct val="107000"/>
                        </a:lnSpc>
                        <a:spcAft>
                          <a:spcPts val="800"/>
                        </a:spcAft>
                      </a:pPr>
                      <a:r>
                        <a:rPr lang="en-NZ" sz="1100" kern="100" dirty="0">
                          <a:effectLst/>
                        </a:rPr>
                        <a:t>Low</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4191738058"/>
                  </a:ext>
                </a:extLst>
              </a:tr>
              <a:tr h="233509">
                <a:tc>
                  <a:txBody>
                    <a:bodyPr/>
                    <a:lstStyle/>
                    <a:p>
                      <a:pPr>
                        <a:lnSpc>
                          <a:spcPct val="107000"/>
                        </a:lnSpc>
                        <a:spcAft>
                          <a:spcPts val="800"/>
                        </a:spcAft>
                      </a:pPr>
                      <a:r>
                        <a:rPr lang="en-NZ" sz="1100" kern="100">
                          <a:effectLst/>
                        </a:rPr>
                        <a:t> </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gridSpan="2">
                  <a:txBody>
                    <a:bodyPr/>
                    <a:lstStyle/>
                    <a:p>
                      <a:pPr>
                        <a:lnSpc>
                          <a:spcPct val="107000"/>
                        </a:lnSpc>
                        <a:spcAft>
                          <a:spcPts val="800"/>
                        </a:spcAft>
                      </a:pPr>
                      <a:r>
                        <a:rPr lang="en-NZ" sz="1100" kern="100" dirty="0">
                          <a:effectLst/>
                        </a:rPr>
                        <a:t> </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hMerge="1">
                  <a:txBody>
                    <a:bodyPr/>
                    <a:lstStyle/>
                    <a:p>
                      <a:endParaRPr lang="en-NZ"/>
                    </a:p>
                  </a:txBody>
                  <a:tcPr/>
                </a:tc>
                <a:extLst>
                  <a:ext uri="{0D108BD9-81ED-4DB2-BD59-A6C34878D82A}">
                    <a16:rowId xmlns:a16="http://schemas.microsoft.com/office/drawing/2014/main" val="2456735738"/>
                  </a:ext>
                </a:extLst>
              </a:tr>
            </a:tbl>
          </a:graphicData>
        </a:graphic>
      </p:graphicFrame>
      <p:sp>
        <p:nvSpPr>
          <p:cNvPr id="11" name="TextBox 10">
            <a:extLst>
              <a:ext uri="{FF2B5EF4-FFF2-40B4-BE49-F238E27FC236}">
                <a16:creationId xmlns:a16="http://schemas.microsoft.com/office/drawing/2014/main" id="{AA830AAA-726E-AB3B-E2D1-1D7598DE10C3}"/>
              </a:ext>
            </a:extLst>
          </p:cNvPr>
          <p:cNvSpPr txBox="1"/>
          <p:nvPr/>
        </p:nvSpPr>
        <p:spPr>
          <a:xfrm>
            <a:off x="837458" y="902988"/>
            <a:ext cx="6734651" cy="646331"/>
          </a:xfrm>
          <a:prstGeom prst="rect">
            <a:avLst/>
          </a:prstGeom>
          <a:noFill/>
        </p:spPr>
        <p:txBody>
          <a:bodyPr wrap="square" rtlCol="0">
            <a:spAutoFit/>
          </a:bodyPr>
          <a:lstStyle/>
          <a:p>
            <a:r>
              <a:rPr lang="en-NZ" i="1"/>
              <a:t>This section is designed to capture key information that will inform next steps, and or any proposed solution</a:t>
            </a:r>
          </a:p>
        </p:txBody>
      </p:sp>
      <p:cxnSp>
        <p:nvCxnSpPr>
          <p:cNvPr id="15" name="Straight Connector 14">
            <a:extLst>
              <a:ext uri="{FF2B5EF4-FFF2-40B4-BE49-F238E27FC236}">
                <a16:creationId xmlns:a16="http://schemas.microsoft.com/office/drawing/2014/main" id="{CE4FA211-956A-7615-9797-19197060F859}"/>
              </a:ext>
            </a:extLst>
          </p:cNvPr>
          <p:cNvCxnSpPr/>
          <p:nvPr/>
        </p:nvCxnSpPr>
        <p:spPr>
          <a:xfrm>
            <a:off x="952235" y="902988"/>
            <a:ext cx="83058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63164DB9-4F7E-FFD8-E61C-E2105727C7E9}"/>
              </a:ext>
            </a:extLst>
          </p:cNvPr>
          <p:cNvGraphicFramePr>
            <a:graphicFrameLocks noGrp="1"/>
          </p:cNvGraphicFramePr>
          <p:nvPr>
            <p:extLst>
              <p:ext uri="{D42A27DB-BD31-4B8C-83A1-F6EECF244321}">
                <p14:modId xmlns:p14="http://schemas.microsoft.com/office/powerpoint/2010/main" val="1566164277"/>
              </p:ext>
            </p:extLst>
          </p:nvPr>
        </p:nvGraphicFramePr>
        <p:xfrm>
          <a:off x="7334250" y="2031132"/>
          <a:ext cx="4111884" cy="1803480"/>
        </p:xfrm>
        <a:graphic>
          <a:graphicData uri="http://schemas.openxmlformats.org/drawingml/2006/table">
            <a:tbl>
              <a:tblPr firstCol="1" bandRow="1">
                <a:tableStyleId>{F5AB1C69-6EDB-4FF4-983F-18BD219EF322}</a:tableStyleId>
              </a:tblPr>
              <a:tblGrid>
                <a:gridCol w="1161598">
                  <a:extLst>
                    <a:ext uri="{9D8B030D-6E8A-4147-A177-3AD203B41FA5}">
                      <a16:colId xmlns:a16="http://schemas.microsoft.com/office/drawing/2014/main" val="4239862223"/>
                    </a:ext>
                  </a:extLst>
                </a:gridCol>
                <a:gridCol w="2950286">
                  <a:extLst>
                    <a:ext uri="{9D8B030D-6E8A-4147-A177-3AD203B41FA5}">
                      <a16:colId xmlns:a16="http://schemas.microsoft.com/office/drawing/2014/main" val="3514712417"/>
                    </a:ext>
                  </a:extLst>
                </a:gridCol>
              </a:tblGrid>
              <a:tr h="756735">
                <a:tc>
                  <a:txBody>
                    <a:bodyPr/>
                    <a:lstStyle/>
                    <a:p>
                      <a:pPr>
                        <a:lnSpc>
                          <a:spcPct val="107000"/>
                        </a:lnSpc>
                        <a:spcAft>
                          <a:spcPts val="800"/>
                        </a:spcAft>
                      </a:pPr>
                      <a:r>
                        <a:rPr lang="en-NZ" sz="1100" kern="100">
                          <a:effectLst/>
                        </a:rPr>
                        <a:t>Technical complexity</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pPr>
                        <a:lnSpc>
                          <a:spcPct val="107000"/>
                        </a:lnSpc>
                        <a:spcAft>
                          <a:spcPts val="800"/>
                        </a:spcAft>
                      </a:pPr>
                      <a:r>
                        <a:rPr lang="en-NZ" sz="1100" kern="100" dirty="0">
                          <a:effectLst/>
                        </a:rPr>
                        <a:t>Medium – Medium Technical complexity </a:t>
                      </a:r>
                    </a:p>
                  </a:txBody>
                  <a:tcPr marL="68580" marR="68580" marT="0" marB="0" anchor="ctr"/>
                </a:tc>
                <a:extLst>
                  <a:ext uri="{0D108BD9-81ED-4DB2-BD59-A6C34878D82A}">
                    <a16:rowId xmlns:a16="http://schemas.microsoft.com/office/drawing/2014/main" val="1733995029"/>
                  </a:ext>
                </a:extLst>
              </a:tr>
              <a:tr h="756735">
                <a:tc>
                  <a:txBody>
                    <a:bodyPr/>
                    <a:lstStyle/>
                    <a:p>
                      <a:pPr>
                        <a:lnSpc>
                          <a:spcPct val="107000"/>
                        </a:lnSpc>
                        <a:spcAft>
                          <a:spcPts val="800"/>
                        </a:spcAft>
                      </a:pPr>
                      <a:r>
                        <a:rPr lang="en-NZ" sz="1100" kern="100">
                          <a:effectLst/>
                        </a:rPr>
                        <a:t>Kaimahi Impact</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pPr>
                        <a:lnSpc>
                          <a:spcPct val="107000"/>
                        </a:lnSpc>
                        <a:spcAft>
                          <a:spcPts val="800"/>
                        </a:spcAft>
                      </a:pPr>
                      <a:r>
                        <a:rPr lang="en-NZ" sz="1100" kern="100" dirty="0">
                          <a:effectLst/>
                        </a:rPr>
                        <a:t>Small –No change impact to </a:t>
                      </a:r>
                      <a:r>
                        <a:rPr lang="en-NZ" sz="1100" kern="100" dirty="0" err="1">
                          <a:effectLst/>
                        </a:rPr>
                        <a:t>kaimahi</a:t>
                      </a:r>
                      <a:endParaRPr lang="en-NZ" sz="1100" kern="100" dirty="0">
                        <a:effectLst/>
                      </a:endParaRPr>
                    </a:p>
                  </a:txBody>
                  <a:tcPr marL="68580" marR="68580" marT="0" marB="0" anchor="ctr"/>
                </a:tc>
                <a:extLst>
                  <a:ext uri="{0D108BD9-81ED-4DB2-BD59-A6C34878D82A}">
                    <a16:rowId xmlns:a16="http://schemas.microsoft.com/office/drawing/2014/main" val="2646219938"/>
                  </a:ext>
                </a:extLst>
              </a:tr>
              <a:tr h="290010">
                <a:tc>
                  <a:txBody>
                    <a:bodyPr/>
                    <a:lstStyle/>
                    <a:p>
                      <a:pPr>
                        <a:lnSpc>
                          <a:spcPct val="107000"/>
                        </a:lnSpc>
                        <a:spcAft>
                          <a:spcPts val="800"/>
                        </a:spcAft>
                      </a:pPr>
                      <a:r>
                        <a:rPr lang="en-NZ" sz="1100" kern="100">
                          <a:effectLst/>
                          <a:latin typeface="Calibri" panose="020F0502020204030204" pitchFamily="34" charset="0"/>
                          <a:ea typeface="DengXian" panose="02010600030101010101" pitchFamily="2" charset="-122"/>
                          <a:cs typeface="Cordia New" panose="020B0304020202020204" pitchFamily="34" charset="-34"/>
                        </a:rPr>
                        <a:t>Is this a project</a:t>
                      </a:r>
                    </a:p>
                  </a:txBody>
                  <a:tcPr marL="68580" marR="68580" marT="0" marB="0" anchor="ctr"/>
                </a:tc>
                <a:tc>
                  <a:txBody>
                    <a:bodyPr/>
                    <a:lstStyle/>
                    <a:p>
                      <a:pPr>
                        <a:lnSpc>
                          <a:spcPct val="107000"/>
                        </a:lnSpc>
                        <a:spcAft>
                          <a:spcPts val="800"/>
                        </a:spcAft>
                      </a:pP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3496120367"/>
                  </a:ext>
                </a:extLst>
              </a:tr>
            </a:tbl>
          </a:graphicData>
        </a:graphic>
      </p:graphicFrame>
      <p:graphicFrame>
        <p:nvGraphicFramePr>
          <p:cNvPr id="3" name="Table 2">
            <a:extLst>
              <a:ext uri="{FF2B5EF4-FFF2-40B4-BE49-F238E27FC236}">
                <a16:creationId xmlns:a16="http://schemas.microsoft.com/office/drawing/2014/main" id="{C25C4DCA-1B97-E5E3-A90B-CE2C66CC7C97}"/>
              </a:ext>
            </a:extLst>
          </p:cNvPr>
          <p:cNvGraphicFramePr>
            <a:graphicFrameLocks noGrp="1"/>
          </p:cNvGraphicFramePr>
          <p:nvPr>
            <p:extLst>
              <p:ext uri="{D42A27DB-BD31-4B8C-83A1-F6EECF244321}">
                <p14:modId xmlns:p14="http://schemas.microsoft.com/office/powerpoint/2010/main" val="2262531609"/>
              </p:ext>
            </p:extLst>
          </p:nvPr>
        </p:nvGraphicFramePr>
        <p:xfrm>
          <a:off x="952235" y="3573962"/>
          <a:ext cx="5725160" cy="2584399"/>
        </p:xfrm>
        <a:graphic>
          <a:graphicData uri="http://schemas.openxmlformats.org/drawingml/2006/table">
            <a:tbl>
              <a:tblPr firstCol="1" bandRow="1">
                <a:tableStyleId>{F5AB1C69-6EDB-4FF4-983F-18BD219EF322}</a:tableStyleId>
              </a:tblPr>
              <a:tblGrid>
                <a:gridCol w="1162315">
                  <a:extLst>
                    <a:ext uri="{9D8B030D-6E8A-4147-A177-3AD203B41FA5}">
                      <a16:colId xmlns:a16="http://schemas.microsoft.com/office/drawing/2014/main" val="34250169"/>
                    </a:ext>
                  </a:extLst>
                </a:gridCol>
                <a:gridCol w="4562845">
                  <a:extLst>
                    <a:ext uri="{9D8B030D-6E8A-4147-A177-3AD203B41FA5}">
                      <a16:colId xmlns:a16="http://schemas.microsoft.com/office/drawing/2014/main" val="1808788860"/>
                    </a:ext>
                  </a:extLst>
                </a:gridCol>
              </a:tblGrid>
              <a:tr h="915048">
                <a:tc>
                  <a:txBody>
                    <a:bodyPr/>
                    <a:lstStyle/>
                    <a:p>
                      <a:pPr>
                        <a:lnSpc>
                          <a:spcPct val="107000"/>
                        </a:lnSpc>
                        <a:spcAft>
                          <a:spcPts val="800"/>
                        </a:spcAft>
                      </a:pPr>
                      <a:r>
                        <a:rPr lang="en-NZ" sz="1100" kern="100" dirty="0">
                          <a:effectLst/>
                        </a:rPr>
                        <a:t>Data</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r>
                        <a:rPr lang="en-US" sz="1100" kern="100" dirty="0" err="1">
                          <a:solidFill>
                            <a:schemeClr val="dk1"/>
                          </a:solidFill>
                          <a:effectLst/>
                          <a:latin typeface="+mn-lt"/>
                          <a:ea typeface="+mn-ea"/>
                          <a:cs typeface="+mn-cs"/>
                        </a:rPr>
                        <a:t>PowerBI</a:t>
                      </a:r>
                      <a:r>
                        <a:rPr lang="en-US" sz="1100" kern="100" dirty="0">
                          <a:solidFill>
                            <a:schemeClr val="dk1"/>
                          </a:solidFill>
                          <a:effectLst/>
                          <a:latin typeface="+mn-lt"/>
                          <a:ea typeface="+mn-ea"/>
                          <a:cs typeface="+mn-cs"/>
                        </a:rPr>
                        <a:t> activity log data contains details for every interaction that users in the Emerge tenant have with the Power BI service.</a:t>
                      </a:r>
                      <a:endParaRPr lang="en-NZ" sz="1100" kern="100" dirty="0">
                        <a:solidFill>
                          <a:schemeClr val="dk1"/>
                        </a:solidFill>
                        <a:effectLst/>
                        <a:latin typeface="+mn-lt"/>
                        <a:ea typeface="+mn-ea"/>
                        <a:cs typeface="+mn-cs"/>
                      </a:endParaRPr>
                    </a:p>
                  </a:txBody>
                  <a:tcPr marL="68580" marR="68580" marT="0" marB="0" anchor="ctr"/>
                </a:tc>
                <a:extLst>
                  <a:ext uri="{0D108BD9-81ED-4DB2-BD59-A6C34878D82A}">
                    <a16:rowId xmlns:a16="http://schemas.microsoft.com/office/drawing/2014/main" val="345017951"/>
                  </a:ext>
                </a:extLst>
              </a:tr>
              <a:tr h="392164">
                <a:tc>
                  <a:txBody>
                    <a:bodyPr/>
                    <a:lstStyle/>
                    <a:p>
                      <a:pPr>
                        <a:lnSpc>
                          <a:spcPct val="107000"/>
                        </a:lnSpc>
                        <a:spcAft>
                          <a:spcPts val="800"/>
                        </a:spcAft>
                      </a:pPr>
                      <a:r>
                        <a:rPr lang="en-NZ" sz="1100" kern="100">
                          <a:effectLst/>
                        </a:rPr>
                        <a:t>Security</a:t>
                      </a:r>
                    </a:p>
                  </a:txBody>
                  <a:tcPr marL="68580" marR="68580" marT="0" marB="0" anchor="ctr"/>
                </a:tc>
                <a:tc>
                  <a:txBody>
                    <a:bodyPr/>
                    <a:lstStyle/>
                    <a:p>
                      <a:pPr>
                        <a:lnSpc>
                          <a:spcPct val="107000"/>
                        </a:lnSpc>
                        <a:spcAft>
                          <a:spcPts val="800"/>
                        </a:spcAft>
                      </a:pPr>
                      <a:r>
                        <a:rPr lang="en-US" sz="1100" kern="100" dirty="0">
                          <a:solidFill>
                            <a:schemeClr val="dk1"/>
                          </a:solidFill>
                          <a:effectLst/>
                          <a:latin typeface="Calibri" panose="020F0502020204030204" pitchFamily="34" charset="0"/>
                          <a:ea typeface="DengXian" panose="02010600030101010101" pitchFamily="2" charset="-122"/>
                          <a:cs typeface="Cordia New" panose="020B0304020202020204" pitchFamily="34" charset="-34"/>
                        </a:rPr>
                        <a:t>Power BI audit logs do not contain any PII(</a:t>
                      </a:r>
                      <a:r>
                        <a:rPr lang="en-NZ" sz="1100" kern="100" dirty="0">
                          <a:solidFill>
                            <a:schemeClr val="dk1"/>
                          </a:solidFill>
                          <a:effectLst/>
                          <a:latin typeface="Calibri" panose="020F0502020204030204" pitchFamily="34" charset="0"/>
                          <a:ea typeface="DengXian" panose="02010600030101010101" pitchFamily="2" charset="-122"/>
                          <a:cs typeface="Cordia New" panose="020B0304020202020204" pitchFamily="34" charset="-34"/>
                        </a:rPr>
                        <a:t>Personal Identifiable Information)</a:t>
                      </a:r>
                      <a:r>
                        <a:rPr lang="en-US" sz="1100" kern="100" dirty="0">
                          <a:solidFill>
                            <a:schemeClr val="dk1"/>
                          </a:solidFill>
                          <a:effectLst/>
                          <a:latin typeface="Calibri" panose="020F0502020204030204" pitchFamily="34" charset="0"/>
                          <a:ea typeface="DengXian" panose="02010600030101010101" pitchFamily="2" charset="-122"/>
                          <a:cs typeface="Cordia New" panose="020B0304020202020204" pitchFamily="34" charset="-34"/>
                        </a:rPr>
                        <a:t>data. The solution needs a security group </a:t>
                      </a:r>
                      <a:r>
                        <a:rPr lang="en-NZ" sz="1100" kern="100" dirty="0">
                          <a:solidFill>
                            <a:schemeClr val="dk1"/>
                          </a:solidFill>
                          <a:effectLst/>
                          <a:latin typeface="Calibri" panose="020F0502020204030204" pitchFamily="34" charset="0"/>
                          <a:ea typeface="DengXian" panose="02010600030101010101" pitchFamily="2" charset="-122"/>
                          <a:cs typeface="Cordia New" panose="020B0304020202020204" pitchFamily="34" charset="-34"/>
                        </a:rPr>
                        <a:t>in Azure active directory,</a:t>
                      </a:r>
                    </a:p>
                  </a:txBody>
                  <a:tcPr marL="68580" marR="68580" marT="0" marB="0" anchor="ctr"/>
                </a:tc>
                <a:extLst>
                  <a:ext uri="{0D108BD9-81ED-4DB2-BD59-A6C34878D82A}">
                    <a16:rowId xmlns:a16="http://schemas.microsoft.com/office/drawing/2014/main" val="2176630348"/>
                  </a:ext>
                </a:extLst>
              </a:tr>
              <a:tr h="788288">
                <a:tc>
                  <a:txBody>
                    <a:bodyPr/>
                    <a:lstStyle/>
                    <a:p>
                      <a:pPr>
                        <a:lnSpc>
                          <a:spcPct val="107000"/>
                        </a:lnSpc>
                        <a:spcAft>
                          <a:spcPts val="800"/>
                        </a:spcAft>
                      </a:pPr>
                      <a:r>
                        <a:rPr lang="en-NZ" sz="1100" kern="100">
                          <a:effectLst/>
                        </a:rPr>
                        <a:t>Third-Party Requirements</a:t>
                      </a: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pPr>
                        <a:lnSpc>
                          <a:spcPct val="107000"/>
                        </a:lnSpc>
                        <a:spcAft>
                          <a:spcPts val="800"/>
                        </a:spcAft>
                      </a:pPr>
                      <a:r>
                        <a:rPr lang="en-NZ" sz="1100" kern="100" dirty="0">
                          <a:effectLst/>
                        </a:rPr>
                        <a:t>We will extract data from Power BI services </a:t>
                      </a:r>
                    </a:p>
                    <a:p>
                      <a:pPr>
                        <a:lnSpc>
                          <a:spcPct val="107000"/>
                        </a:lnSpc>
                        <a:spcAft>
                          <a:spcPts val="800"/>
                        </a:spcAft>
                      </a:pP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1809250271"/>
                  </a:ext>
                </a:extLst>
              </a:tr>
              <a:tr h="327325">
                <a:tc>
                  <a:txBody>
                    <a:bodyPr/>
                    <a:lstStyle/>
                    <a:p>
                      <a:pPr>
                        <a:lnSpc>
                          <a:spcPct val="107000"/>
                        </a:lnSpc>
                        <a:spcAft>
                          <a:spcPts val="800"/>
                        </a:spcAft>
                      </a:pPr>
                      <a:r>
                        <a:rPr lang="en-NZ" sz="1100" kern="100">
                          <a:effectLst/>
                          <a:latin typeface="Calibri" panose="020F0502020204030204" pitchFamily="34" charset="0"/>
                          <a:ea typeface="DengXian" panose="02010600030101010101" pitchFamily="2" charset="-122"/>
                          <a:cs typeface="Cordia New" panose="020B0304020202020204" pitchFamily="34" charset="-34"/>
                        </a:rPr>
                        <a:t>Integration</a:t>
                      </a:r>
                    </a:p>
                  </a:txBody>
                  <a:tcPr marL="68580" marR="68580" marT="0" marB="0" anchor="ctr"/>
                </a:tc>
                <a:tc>
                  <a:txBody>
                    <a:bodyPr/>
                    <a:lstStyle/>
                    <a:p>
                      <a:pPr>
                        <a:lnSpc>
                          <a:spcPct val="107000"/>
                        </a:lnSpc>
                        <a:spcAft>
                          <a:spcPts val="800"/>
                        </a:spcAft>
                      </a:pPr>
                      <a:r>
                        <a:rPr lang="en-US" sz="1100" kern="100" dirty="0">
                          <a:effectLst/>
                          <a:latin typeface="Calibri" panose="020F0502020204030204" pitchFamily="34" charset="0"/>
                          <a:ea typeface="DengXian" panose="02010600030101010101" pitchFamily="2" charset="-122"/>
                          <a:cs typeface="Cordia New" panose="020B0304020202020204" pitchFamily="34" charset="-34"/>
                        </a:rPr>
                        <a:t>Power BI usage data will be integrated to our BI platform to get slice and dice analysis</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2266391662"/>
                  </a:ext>
                </a:extLst>
              </a:tr>
            </a:tbl>
          </a:graphicData>
        </a:graphic>
      </p:graphicFrame>
      <p:graphicFrame>
        <p:nvGraphicFramePr>
          <p:cNvPr id="4" name="Table 3">
            <a:extLst>
              <a:ext uri="{FF2B5EF4-FFF2-40B4-BE49-F238E27FC236}">
                <a16:creationId xmlns:a16="http://schemas.microsoft.com/office/drawing/2014/main" id="{B6F6D6BF-DD30-7F91-5AE9-9D7087DD7B57}"/>
              </a:ext>
            </a:extLst>
          </p:cNvPr>
          <p:cNvGraphicFramePr>
            <a:graphicFrameLocks noGrp="1"/>
          </p:cNvGraphicFramePr>
          <p:nvPr>
            <p:extLst>
              <p:ext uri="{D42A27DB-BD31-4B8C-83A1-F6EECF244321}">
                <p14:modId xmlns:p14="http://schemas.microsoft.com/office/powerpoint/2010/main" val="1694179289"/>
              </p:ext>
            </p:extLst>
          </p:nvPr>
        </p:nvGraphicFramePr>
        <p:xfrm>
          <a:off x="7334250" y="4178804"/>
          <a:ext cx="4111884" cy="2015483"/>
        </p:xfrm>
        <a:graphic>
          <a:graphicData uri="http://schemas.openxmlformats.org/drawingml/2006/table">
            <a:tbl>
              <a:tblPr firstCol="1" bandRow="1">
                <a:tableStyleId>{F5AB1C69-6EDB-4FF4-983F-18BD219EF322}</a:tableStyleId>
              </a:tblPr>
              <a:tblGrid>
                <a:gridCol w="1162049">
                  <a:extLst>
                    <a:ext uri="{9D8B030D-6E8A-4147-A177-3AD203B41FA5}">
                      <a16:colId xmlns:a16="http://schemas.microsoft.com/office/drawing/2014/main" val="467937055"/>
                    </a:ext>
                  </a:extLst>
                </a:gridCol>
                <a:gridCol w="2949835">
                  <a:extLst>
                    <a:ext uri="{9D8B030D-6E8A-4147-A177-3AD203B41FA5}">
                      <a16:colId xmlns:a16="http://schemas.microsoft.com/office/drawing/2014/main" val="3135883510"/>
                    </a:ext>
                  </a:extLst>
                </a:gridCol>
              </a:tblGrid>
              <a:tr h="501008">
                <a:tc>
                  <a:txBody>
                    <a:bodyPr/>
                    <a:lstStyle/>
                    <a:p>
                      <a:pPr>
                        <a:lnSpc>
                          <a:spcPct val="107000"/>
                        </a:lnSpc>
                        <a:spcAft>
                          <a:spcPts val="800"/>
                        </a:spcAft>
                      </a:pPr>
                      <a:r>
                        <a:rPr lang="en-NZ" sz="1100" kern="100" dirty="0">
                          <a:effectLst/>
                        </a:rPr>
                        <a:t>Infrastructure</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tc>
                  <a:txBody>
                    <a:bodyPr/>
                    <a:lstStyle/>
                    <a:p>
                      <a:pPr>
                        <a:lnSpc>
                          <a:spcPct val="107000"/>
                        </a:lnSpc>
                        <a:spcAft>
                          <a:spcPts val="800"/>
                        </a:spcAft>
                      </a:pPr>
                      <a:r>
                        <a:rPr lang="en-NZ" sz="1100" dirty="0"/>
                        <a:t>Data Factory, </a:t>
                      </a:r>
                      <a:r>
                        <a:rPr lang="en-NZ" sz="1100" dirty="0" err="1"/>
                        <a:t>Synapse,data</a:t>
                      </a:r>
                      <a:r>
                        <a:rPr lang="en-NZ" sz="1100" dirty="0"/>
                        <a:t> container</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259135817"/>
                  </a:ext>
                </a:extLst>
              </a:tr>
              <a:tr h="409575">
                <a:tc>
                  <a:txBody>
                    <a:bodyPr/>
                    <a:lstStyle/>
                    <a:p>
                      <a:pPr>
                        <a:lnSpc>
                          <a:spcPct val="107000"/>
                        </a:lnSpc>
                        <a:spcAft>
                          <a:spcPts val="800"/>
                        </a:spcAft>
                      </a:pPr>
                      <a:r>
                        <a:rPr lang="en-NZ" sz="1100" kern="100">
                          <a:effectLst/>
                          <a:latin typeface="Calibri" panose="020F0502020204030204" pitchFamily="34" charset="0"/>
                          <a:ea typeface="DengXian" panose="02010600030101010101" pitchFamily="2" charset="-122"/>
                          <a:cs typeface="Cordia New" panose="020B0304020202020204" pitchFamily="34" charset="-34"/>
                        </a:rPr>
                        <a:t>Applications</a:t>
                      </a:r>
                    </a:p>
                  </a:txBody>
                  <a:tcPr marL="68580" marR="68580" marT="0" marB="0" anchor="ctr"/>
                </a:tc>
                <a:tc>
                  <a:txBody>
                    <a:bodyPr/>
                    <a:lstStyle/>
                    <a:p>
                      <a:pPr>
                        <a:lnSpc>
                          <a:spcPct val="107000"/>
                        </a:lnSpc>
                        <a:spcAft>
                          <a:spcPts val="800"/>
                        </a:spcAft>
                      </a:pPr>
                      <a:r>
                        <a:rPr lang="en-US" sz="1100" kern="100" dirty="0">
                          <a:effectLst/>
                          <a:latin typeface="Calibri" panose="020F0502020204030204" pitchFamily="34" charset="0"/>
                          <a:ea typeface="DengXian" panose="02010600030101010101" pitchFamily="2" charset="-122"/>
                          <a:cs typeface="Cordia New" panose="020B0304020202020204" pitchFamily="34" charset="-34"/>
                        </a:rPr>
                        <a:t>Power BI report</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3149663659"/>
                  </a:ext>
                </a:extLst>
              </a:tr>
              <a:tr h="304800">
                <a:tc>
                  <a:txBody>
                    <a:bodyPr/>
                    <a:lstStyle/>
                    <a:p>
                      <a:pPr>
                        <a:lnSpc>
                          <a:spcPct val="107000"/>
                        </a:lnSpc>
                        <a:spcAft>
                          <a:spcPts val="800"/>
                        </a:spcAft>
                      </a:pPr>
                      <a:r>
                        <a:rPr lang="en-NZ" sz="1100" kern="100">
                          <a:effectLst/>
                          <a:latin typeface="Calibri" panose="020F0502020204030204" pitchFamily="34" charset="0"/>
                          <a:ea typeface="DengXian" panose="02010600030101010101" pitchFamily="2" charset="-122"/>
                          <a:cs typeface="Cordia New" panose="020B0304020202020204" pitchFamily="34" charset="-34"/>
                        </a:rPr>
                        <a:t>Services Desk</a:t>
                      </a:r>
                    </a:p>
                  </a:txBody>
                  <a:tcPr marL="68580" marR="68580" marT="0" marB="0" anchor="ctr"/>
                </a:tc>
                <a:tc>
                  <a:txBody>
                    <a:bodyPr/>
                    <a:lstStyle/>
                    <a:p>
                      <a:pPr>
                        <a:lnSpc>
                          <a:spcPct val="107000"/>
                        </a:lnSpc>
                        <a:spcAft>
                          <a:spcPts val="800"/>
                        </a:spcAft>
                      </a:pPr>
                      <a:endParaRPr lang="en-NZ" sz="1100" kern="10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3616717688"/>
                  </a:ext>
                </a:extLst>
              </a:tr>
              <a:tr h="390525">
                <a:tc>
                  <a:txBody>
                    <a:bodyPr/>
                    <a:lstStyle/>
                    <a:p>
                      <a:pPr>
                        <a:lnSpc>
                          <a:spcPct val="107000"/>
                        </a:lnSpc>
                        <a:spcAft>
                          <a:spcPts val="800"/>
                        </a:spcAft>
                      </a:pPr>
                      <a:r>
                        <a:rPr lang="en-NZ" sz="1100" kern="100">
                          <a:effectLst/>
                          <a:latin typeface="Calibri" panose="020F0502020204030204" pitchFamily="34" charset="0"/>
                          <a:ea typeface="DengXian" panose="02010600030101010101" pitchFamily="2" charset="-122"/>
                          <a:cs typeface="Cordia New" panose="020B0304020202020204" pitchFamily="34" charset="-34"/>
                        </a:rPr>
                        <a:t>Data &amp; Reporting</a:t>
                      </a:r>
                    </a:p>
                  </a:txBody>
                  <a:tcPr marL="68580" marR="68580" marT="0" marB="0" anchor="ctr"/>
                </a:tc>
                <a:tc>
                  <a:txBody>
                    <a:bodyPr/>
                    <a:lstStyle/>
                    <a:p>
                      <a:pPr>
                        <a:lnSpc>
                          <a:spcPct val="107000"/>
                        </a:lnSpc>
                        <a:spcAft>
                          <a:spcPts val="800"/>
                        </a:spcAft>
                      </a:pPr>
                      <a:r>
                        <a:rPr lang="en-US" sz="1100" kern="100" dirty="0">
                          <a:effectLst/>
                          <a:latin typeface="Calibri" panose="020F0502020204030204" pitchFamily="34" charset="0"/>
                          <a:ea typeface="DengXian" panose="02010600030101010101" pitchFamily="2" charset="-122"/>
                          <a:cs typeface="Cordia New" panose="020B0304020202020204" pitchFamily="34" charset="-34"/>
                        </a:rPr>
                        <a:t>EDW</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4237459439"/>
                  </a:ext>
                </a:extLst>
              </a:tr>
              <a:tr h="409575">
                <a:tc>
                  <a:txBody>
                    <a:bodyPr/>
                    <a:lstStyle/>
                    <a:p>
                      <a:pPr>
                        <a:lnSpc>
                          <a:spcPct val="107000"/>
                        </a:lnSpc>
                        <a:spcAft>
                          <a:spcPts val="800"/>
                        </a:spcAft>
                      </a:pPr>
                      <a:r>
                        <a:rPr lang="en-NZ" sz="1100" kern="100">
                          <a:effectLst/>
                          <a:latin typeface="Calibri" panose="020F0502020204030204" pitchFamily="34" charset="0"/>
                          <a:ea typeface="DengXian" panose="02010600030101010101" pitchFamily="2" charset="-122"/>
                          <a:cs typeface="Cordia New" panose="020B0304020202020204" pitchFamily="34" charset="-34"/>
                        </a:rPr>
                        <a:t>Architecture</a:t>
                      </a:r>
                    </a:p>
                  </a:txBody>
                  <a:tcPr marL="68580" marR="68580" marT="0" marB="0" anchor="ctr"/>
                </a:tc>
                <a:tc>
                  <a:txBody>
                    <a:bodyPr/>
                    <a:lstStyle/>
                    <a:p>
                      <a:pPr>
                        <a:lnSpc>
                          <a:spcPct val="107000"/>
                        </a:lnSpc>
                        <a:spcAft>
                          <a:spcPts val="800"/>
                        </a:spcAft>
                      </a:pPr>
                      <a:r>
                        <a:rPr lang="en-US" sz="1100" kern="100" dirty="0">
                          <a:effectLst/>
                          <a:latin typeface="Calibri" panose="020F0502020204030204" pitchFamily="34" charset="0"/>
                          <a:ea typeface="DengXian" panose="02010600030101010101" pitchFamily="2" charset="-122"/>
                          <a:cs typeface="Cordia New" panose="020B0304020202020204" pitchFamily="34" charset="-34"/>
                        </a:rPr>
                        <a:t>Kimball methodology </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nchor="ctr"/>
                </a:tc>
                <a:extLst>
                  <a:ext uri="{0D108BD9-81ED-4DB2-BD59-A6C34878D82A}">
                    <a16:rowId xmlns:a16="http://schemas.microsoft.com/office/drawing/2014/main" val="2201406930"/>
                  </a:ext>
                </a:extLst>
              </a:tr>
            </a:tbl>
          </a:graphicData>
        </a:graphic>
      </p:graphicFrame>
      <p:graphicFrame>
        <p:nvGraphicFramePr>
          <p:cNvPr id="5" name="Table 6">
            <a:extLst>
              <a:ext uri="{FF2B5EF4-FFF2-40B4-BE49-F238E27FC236}">
                <a16:creationId xmlns:a16="http://schemas.microsoft.com/office/drawing/2014/main" id="{BB39A459-A898-83D0-2C59-DCA77950EDF0}"/>
              </a:ext>
            </a:extLst>
          </p:cNvPr>
          <p:cNvGraphicFramePr>
            <a:graphicFrameLocks noGrp="1"/>
          </p:cNvGraphicFramePr>
          <p:nvPr>
            <p:extLst>
              <p:ext uri="{D42A27DB-BD31-4B8C-83A1-F6EECF244321}">
                <p14:modId xmlns:p14="http://schemas.microsoft.com/office/powerpoint/2010/main" val="1105267699"/>
              </p:ext>
            </p:extLst>
          </p:nvPr>
        </p:nvGraphicFramePr>
        <p:xfrm>
          <a:off x="952236" y="6309879"/>
          <a:ext cx="10497621" cy="370840"/>
        </p:xfrm>
        <a:graphic>
          <a:graphicData uri="http://schemas.openxmlformats.org/drawingml/2006/table">
            <a:tbl>
              <a:tblPr bandRow="1">
                <a:tableStyleId>{F5AB1C69-6EDB-4FF4-983F-18BD219EF322}</a:tableStyleId>
              </a:tblPr>
              <a:tblGrid>
                <a:gridCol w="527489">
                  <a:extLst>
                    <a:ext uri="{9D8B030D-6E8A-4147-A177-3AD203B41FA5}">
                      <a16:colId xmlns:a16="http://schemas.microsoft.com/office/drawing/2014/main" val="1695487601"/>
                    </a:ext>
                  </a:extLst>
                </a:gridCol>
                <a:gridCol w="219733">
                  <a:extLst>
                    <a:ext uri="{9D8B030D-6E8A-4147-A177-3AD203B41FA5}">
                      <a16:colId xmlns:a16="http://schemas.microsoft.com/office/drawing/2014/main" val="1865309995"/>
                    </a:ext>
                  </a:extLst>
                </a:gridCol>
                <a:gridCol w="690952">
                  <a:extLst>
                    <a:ext uri="{9D8B030D-6E8A-4147-A177-3AD203B41FA5}">
                      <a16:colId xmlns:a16="http://schemas.microsoft.com/office/drawing/2014/main" val="302130304"/>
                    </a:ext>
                  </a:extLst>
                </a:gridCol>
                <a:gridCol w="267967">
                  <a:extLst>
                    <a:ext uri="{9D8B030D-6E8A-4147-A177-3AD203B41FA5}">
                      <a16:colId xmlns:a16="http://schemas.microsoft.com/office/drawing/2014/main" val="3496144164"/>
                    </a:ext>
                  </a:extLst>
                </a:gridCol>
                <a:gridCol w="682381">
                  <a:extLst>
                    <a:ext uri="{9D8B030D-6E8A-4147-A177-3AD203B41FA5}">
                      <a16:colId xmlns:a16="http://schemas.microsoft.com/office/drawing/2014/main" val="2558354081"/>
                    </a:ext>
                  </a:extLst>
                </a:gridCol>
                <a:gridCol w="282013">
                  <a:extLst>
                    <a:ext uri="{9D8B030D-6E8A-4147-A177-3AD203B41FA5}">
                      <a16:colId xmlns:a16="http://schemas.microsoft.com/office/drawing/2014/main" val="2467168654"/>
                    </a:ext>
                  </a:extLst>
                </a:gridCol>
                <a:gridCol w="646010">
                  <a:extLst>
                    <a:ext uri="{9D8B030D-6E8A-4147-A177-3AD203B41FA5}">
                      <a16:colId xmlns:a16="http://schemas.microsoft.com/office/drawing/2014/main" val="605768367"/>
                    </a:ext>
                  </a:extLst>
                </a:gridCol>
                <a:gridCol w="227314">
                  <a:extLst>
                    <a:ext uri="{9D8B030D-6E8A-4147-A177-3AD203B41FA5}">
                      <a16:colId xmlns:a16="http://schemas.microsoft.com/office/drawing/2014/main" val="2766849333"/>
                    </a:ext>
                  </a:extLst>
                </a:gridCol>
                <a:gridCol w="453483">
                  <a:extLst>
                    <a:ext uri="{9D8B030D-6E8A-4147-A177-3AD203B41FA5}">
                      <a16:colId xmlns:a16="http://schemas.microsoft.com/office/drawing/2014/main" val="1124150462"/>
                    </a:ext>
                  </a:extLst>
                </a:gridCol>
                <a:gridCol w="219733">
                  <a:extLst>
                    <a:ext uri="{9D8B030D-6E8A-4147-A177-3AD203B41FA5}">
                      <a16:colId xmlns:a16="http://schemas.microsoft.com/office/drawing/2014/main" val="2679117985"/>
                    </a:ext>
                  </a:extLst>
                </a:gridCol>
                <a:gridCol w="401950">
                  <a:extLst>
                    <a:ext uri="{9D8B030D-6E8A-4147-A177-3AD203B41FA5}">
                      <a16:colId xmlns:a16="http://schemas.microsoft.com/office/drawing/2014/main" val="669112425"/>
                    </a:ext>
                  </a:extLst>
                </a:gridCol>
                <a:gridCol w="340112">
                  <a:extLst>
                    <a:ext uri="{9D8B030D-6E8A-4147-A177-3AD203B41FA5}">
                      <a16:colId xmlns:a16="http://schemas.microsoft.com/office/drawing/2014/main" val="474337010"/>
                    </a:ext>
                  </a:extLst>
                </a:gridCol>
                <a:gridCol w="474095">
                  <a:extLst>
                    <a:ext uri="{9D8B030D-6E8A-4147-A177-3AD203B41FA5}">
                      <a16:colId xmlns:a16="http://schemas.microsoft.com/office/drawing/2014/main" val="1684795835"/>
                    </a:ext>
                  </a:extLst>
                </a:gridCol>
                <a:gridCol w="288580">
                  <a:extLst>
                    <a:ext uri="{9D8B030D-6E8A-4147-A177-3AD203B41FA5}">
                      <a16:colId xmlns:a16="http://schemas.microsoft.com/office/drawing/2014/main" val="274722528"/>
                    </a:ext>
                  </a:extLst>
                </a:gridCol>
                <a:gridCol w="515321">
                  <a:extLst>
                    <a:ext uri="{9D8B030D-6E8A-4147-A177-3AD203B41FA5}">
                      <a16:colId xmlns:a16="http://schemas.microsoft.com/office/drawing/2014/main" val="3305859616"/>
                    </a:ext>
                  </a:extLst>
                </a:gridCol>
                <a:gridCol w="340112">
                  <a:extLst>
                    <a:ext uri="{9D8B030D-6E8A-4147-A177-3AD203B41FA5}">
                      <a16:colId xmlns:a16="http://schemas.microsoft.com/office/drawing/2014/main" val="169630298"/>
                    </a:ext>
                  </a:extLst>
                </a:gridCol>
                <a:gridCol w="608082">
                  <a:extLst>
                    <a:ext uri="{9D8B030D-6E8A-4147-A177-3AD203B41FA5}">
                      <a16:colId xmlns:a16="http://schemas.microsoft.com/office/drawing/2014/main" val="4085218839"/>
                    </a:ext>
                  </a:extLst>
                </a:gridCol>
                <a:gridCol w="267967">
                  <a:extLst>
                    <a:ext uri="{9D8B030D-6E8A-4147-A177-3AD203B41FA5}">
                      <a16:colId xmlns:a16="http://schemas.microsoft.com/office/drawing/2014/main" val="3883724055"/>
                    </a:ext>
                  </a:extLst>
                </a:gridCol>
                <a:gridCol w="639001">
                  <a:extLst>
                    <a:ext uri="{9D8B030D-6E8A-4147-A177-3AD203B41FA5}">
                      <a16:colId xmlns:a16="http://schemas.microsoft.com/office/drawing/2014/main" val="545611384"/>
                    </a:ext>
                  </a:extLst>
                </a:gridCol>
                <a:gridCol w="288580">
                  <a:extLst>
                    <a:ext uri="{9D8B030D-6E8A-4147-A177-3AD203B41FA5}">
                      <a16:colId xmlns:a16="http://schemas.microsoft.com/office/drawing/2014/main" val="1664209305"/>
                    </a:ext>
                  </a:extLst>
                </a:gridCol>
                <a:gridCol w="639001">
                  <a:extLst>
                    <a:ext uri="{9D8B030D-6E8A-4147-A177-3AD203B41FA5}">
                      <a16:colId xmlns:a16="http://schemas.microsoft.com/office/drawing/2014/main" val="3851641013"/>
                    </a:ext>
                  </a:extLst>
                </a:gridCol>
                <a:gridCol w="319500">
                  <a:extLst>
                    <a:ext uri="{9D8B030D-6E8A-4147-A177-3AD203B41FA5}">
                      <a16:colId xmlns:a16="http://schemas.microsoft.com/office/drawing/2014/main" val="3540782193"/>
                    </a:ext>
                  </a:extLst>
                </a:gridCol>
                <a:gridCol w="459153">
                  <a:extLst>
                    <a:ext uri="{9D8B030D-6E8A-4147-A177-3AD203B41FA5}">
                      <a16:colId xmlns:a16="http://schemas.microsoft.com/office/drawing/2014/main" val="92393160"/>
                    </a:ext>
                  </a:extLst>
                </a:gridCol>
                <a:gridCol w="699092">
                  <a:extLst>
                    <a:ext uri="{9D8B030D-6E8A-4147-A177-3AD203B41FA5}">
                      <a16:colId xmlns:a16="http://schemas.microsoft.com/office/drawing/2014/main" val="479749281"/>
                    </a:ext>
                  </a:extLst>
                </a:gridCol>
              </a:tblGrid>
              <a:tr h="370840">
                <a:tc>
                  <a:txBody>
                    <a:bodyPr/>
                    <a:lstStyle/>
                    <a:p>
                      <a:r>
                        <a:rPr lang="en-NZ" sz="800" dirty="0"/>
                        <a:t>Record Base</a:t>
                      </a:r>
                    </a:p>
                  </a:txBody>
                  <a:tcPr/>
                </a:tc>
                <a:tc>
                  <a:txBody>
                    <a:bodyPr/>
                    <a:lstStyle/>
                    <a:p>
                      <a:endParaRPr lang="en-NZ" sz="800"/>
                    </a:p>
                  </a:txBody>
                  <a:tcPr/>
                </a:tc>
                <a:tc>
                  <a:txBody>
                    <a:bodyPr/>
                    <a:lstStyle/>
                    <a:p>
                      <a:r>
                        <a:rPr lang="en-NZ" sz="800" dirty="0" err="1"/>
                        <a:t>Waharoa</a:t>
                      </a:r>
                    </a:p>
                  </a:txBody>
                  <a:tcPr/>
                </a:tc>
                <a:tc>
                  <a:txBody>
                    <a:bodyPr/>
                    <a:lstStyle/>
                    <a:p>
                      <a:endParaRPr lang="en-NZ" sz="800"/>
                    </a:p>
                  </a:txBody>
                  <a:tcPr/>
                </a:tc>
                <a:tc>
                  <a:txBody>
                    <a:bodyPr/>
                    <a:lstStyle/>
                    <a:p>
                      <a:r>
                        <a:rPr lang="en-NZ" sz="800" dirty="0"/>
                        <a:t>Business Central</a:t>
                      </a:r>
                    </a:p>
                  </a:txBody>
                  <a:tcPr/>
                </a:tc>
                <a:tc>
                  <a:txBody>
                    <a:bodyPr/>
                    <a:lstStyle/>
                    <a:p>
                      <a:endParaRPr lang="en-NZ" sz="800"/>
                    </a:p>
                  </a:txBody>
                  <a:tcPr/>
                </a:tc>
                <a:tc>
                  <a:txBody>
                    <a:bodyPr/>
                    <a:lstStyle/>
                    <a:p>
                      <a:r>
                        <a:rPr lang="en-NZ" sz="800"/>
                        <a:t>Web Expenses</a:t>
                      </a:r>
                    </a:p>
                  </a:txBody>
                  <a:tcPr/>
                </a:tc>
                <a:tc>
                  <a:txBody>
                    <a:bodyPr/>
                    <a:lstStyle/>
                    <a:p>
                      <a:endParaRPr lang="en-NZ" sz="800"/>
                    </a:p>
                  </a:txBody>
                  <a:tcPr/>
                </a:tc>
                <a:tc>
                  <a:txBody>
                    <a:bodyPr/>
                    <a:lstStyle/>
                    <a:p>
                      <a:r>
                        <a:rPr lang="en-NZ" sz="800" dirty="0" err="1"/>
                        <a:t>Intilli</a:t>
                      </a:r>
                      <a:r>
                        <a:rPr lang="en-NZ" sz="800" dirty="0"/>
                        <a:t> HR</a:t>
                      </a:r>
                    </a:p>
                  </a:txBody>
                  <a:tcPr/>
                </a:tc>
                <a:tc>
                  <a:txBody>
                    <a:bodyPr/>
                    <a:lstStyle/>
                    <a:p>
                      <a:endParaRPr lang="en-NZ" sz="800"/>
                    </a:p>
                  </a:txBody>
                  <a:tcPr/>
                </a:tc>
                <a:tc>
                  <a:txBody>
                    <a:bodyPr/>
                    <a:lstStyle/>
                    <a:p>
                      <a:r>
                        <a:rPr lang="en-NZ" sz="800"/>
                        <a:t>Emp Live</a:t>
                      </a:r>
                    </a:p>
                  </a:txBody>
                  <a:tcPr/>
                </a:tc>
                <a:tc>
                  <a:txBody>
                    <a:bodyPr/>
                    <a:lstStyle/>
                    <a:p>
                      <a:endParaRPr lang="en-NZ" sz="800"/>
                    </a:p>
                  </a:txBody>
                  <a:tcPr/>
                </a:tc>
                <a:tc>
                  <a:txBody>
                    <a:bodyPr/>
                    <a:lstStyle/>
                    <a:p>
                      <a:r>
                        <a:rPr lang="en-NZ" sz="800" dirty="0"/>
                        <a:t>Azure</a:t>
                      </a:r>
                    </a:p>
                  </a:txBody>
                  <a:tcPr/>
                </a:tc>
                <a:tc>
                  <a:txBody>
                    <a:bodyPr/>
                    <a:lstStyle/>
                    <a:p>
                      <a:endParaRPr lang="en-NZ" sz="800"/>
                    </a:p>
                  </a:txBody>
                  <a:tcPr/>
                </a:tc>
                <a:tc>
                  <a:txBody>
                    <a:bodyPr/>
                    <a:lstStyle/>
                    <a:p>
                      <a:r>
                        <a:rPr lang="en-NZ" sz="800"/>
                        <a:t>M365</a:t>
                      </a:r>
                    </a:p>
                  </a:txBody>
                  <a:tcPr/>
                </a:tc>
                <a:tc>
                  <a:txBody>
                    <a:bodyPr/>
                    <a:lstStyle/>
                    <a:p>
                      <a:endParaRPr lang="en-NZ" sz="800"/>
                    </a:p>
                  </a:txBody>
                  <a:tcPr/>
                </a:tc>
                <a:tc>
                  <a:txBody>
                    <a:bodyPr/>
                    <a:lstStyle/>
                    <a:p>
                      <a:r>
                        <a:rPr lang="en-NZ" sz="800" dirty="0"/>
                        <a:t>Data </a:t>
                      </a:r>
                      <a:endParaRPr lang="en-US" dirty="0"/>
                    </a:p>
                    <a:p>
                      <a:pPr lvl="0">
                        <a:buNone/>
                      </a:pPr>
                      <a:r>
                        <a:rPr lang="en-NZ" sz="800" dirty="0" err="1"/>
                        <a:t>Wahouse</a:t>
                      </a:r>
                    </a:p>
                  </a:txBody>
                  <a:tcPr/>
                </a:tc>
                <a:tc>
                  <a:txBody>
                    <a:bodyPr/>
                    <a:lstStyle/>
                    <a:p>
                      <a:endParaRPr lang="en-NZ" sz="800"/>
                    </a:p>
                  </a:txBody>
                  <a:tcPr/>
                </a:tc>
                <a:tc>
                  <a:txBody>
                    <a:bodyPr/>
                    <a:lstStyle/>
                    <a:p>
                      <a:r>
                        <a:rPr lang="en-NZ" sz="800"/>
                        <a:t>Power BI Datasets</a:t>
                      </a:r>
                    </a:p>
                  </a:txBody>
                  <a:tcPr/>
                </a:tc>
                <a:tc>
                  <a:txBody>
                    <a:bodyPr/>
                    <a:lstStyle/>
                    <a:p>
                      <a:pPr lvl="0">
                        <a:buNone/>
                      </a:pPr>
                      <a:endParaRPr lang="en-NZ" sz="800" dirty="0"/>
                    </a:p>
                  </a:txBody>
                  <a:tcPr/>
                </a:tc>
                <a:tc>
                  <a:txBody>
                    <a:bodyPr/>
                    <a:lstStyle/>
                    <a:p>
                      <a:pPr lvl="0">
                        <a:buNone/>
                      </a:pPr>
                      <a:r>
                        <a:rPr lang="en-NZ" sz="800"/>
                        <a:t>Reporting</a:t>
                      </a:r>
                      <a:endParaRPr lang="en-NZ" sz="800" dirty="0"/>
                    </a:p>
                  </a:txBody>
                  <a:tcPr/>
                </a:tc>
                <a:tc>
                  <a:txBody>
                    <a:bodyPr/>
                    <a:lstStyle/>
                    <a:p>
                      <a:pPr lvl="0">
                        <a:buNone/>
                      </a:pPr>
                      <a:endParaRPr lang="en-NZ" sz="800" dirty="0"/>
                    </a:p>
                  </a:txBody>
                  <a:tcPr/>
                </a:tc>
                <a:tc>
                  <a:txBody>
                    <a:bodyPr/>
                    <a:lstStyle/>
                    <a:p>
                      <a:pPr lvl="0">
                        <a:buNone/>
                      </a:pPr>
                      <a:r>
                        <a:rPr lang="en-NZ" sz="800" dirty="0"/>
                        <a:t>Other</a:t>
                      </a:r>
                    </a:p>
                  </a:txBody>
                  <a:tcPr/>
                </a:tc>
                <a:tc>
                  <a:txBody>
                    <a:bodyPr/>
                    <a:lstStyle/>
                    <a:p>
                      <a:pPr lvl="0">
                        <a:buNone/>
                      </a:pPr>
                      <a:endParaRPr lang="en-NZ" sz="800" dirty="0"/>
                    </a:p>
                  </a:txBody>
                  <a:tcPr/>
                </a:tc>
                <a:extLst>
                  <a:ext uri="{0D108BD9-81ED-4DB2-BD59-A6C34878D82A}">
                    <a16:rowId xmlns:a16="http://schemas.microsoft.com/office/drawing/2014/main" val="2911656985"/>
                  </a:ext>
                </a:extLst>
              </a:tr>
            </a:tbl>
          </a:graphicData>
        </a:graphic>
      </p:graphicFrame>
      <p:sp>
        <p:nvSpPr>
          <p:cNvPr id="7" name="TextBox 6">
            <a:extLst>
              <a:ext uri="{FF2B5EF4-FFF2-40B4-BE49-F238E27FC236}">
                <a16:creationId xmlns:a16="http://schemas.microsoft.com/office/drawing/2014/main" id="{554377FF-5EA2-70D3-C15E-64E4B02385C8}"/>
              </a:ext>
            </a:extLst>
          </p:cNvPr>
          <p:cNvSpPr txBox="1"/>
          <p:nvPr/>
        </p:nvSpPr>
        <p:spPr>
          <a:xfrm>
            <a:off x="7219950" y="1680850"/>
            <a:ext cx="3500510" cy="369332"/>
          </a:xfrm>
          <a:prstGeom prst="rect">
            <a:avLst/>
          </a:prstGeom>
          <a:noFill/>
        </p:spPr>
        <p:txBody>
          <a:bodyPr wrap="none" rtlCol="0">
            <a:spAutoFit/>
          </a:bodyPr>
          <a:lstStyle/>
          <a:p>
            <a:r>
              <a:rPr lang="en-NZ"/>
              <a:t>Complexity and Impact Assessment</a:t>
            </a:r>
          </a:p>
        </p:txBody>
      </p:sp>
      <p:sp>
        <p:nvSpPr>
          <p:cNvPr id="8" name="TextBox 7">
            <a:extLst>
              <a:ext uri="{FF2B5EF4-FFF2-40B4-BE49-F238E27FC236}">
                <a16:creationId xmlns:a16="http://schemas.microsoft.com/office/drawing/2014/main" id="{4B82EC8B-6454-4FF0-BFC9-5E0E82BF7B7A}"/>
              </a:ext>
            </a:extLst>
          </p:cNvPr>
          <p:cNvSpPr txBox="1"/>
          <p:nvPr/>
        </p:nvSpPr>
        <p:spPr>
          <a:xfrm>
            <a:off x="7219950" y="3868403"/>
            <a:ext cx="2409057" cy="369332"/>
          </a:xfrm>
          <a:prstGeom prst="rect">
            <a:avLst/>
          </a:prstGeom>
          <a:noFill/>
        </p:spPr>
        <p:txBody>
          <a:bodyPr wrap="none" rtlCol="0">
            <a:spAutoFit/>
          </a:bodyPr>
          <a:lstStyle/>
          <a:p>
            <a:r>
              <a:rPr lang="en-NZ"/>
              <a:t>Resource Requirements</a:t>
            </a:r>
          </a:p>
        </p:txBody>
      </p:sp>
      <p:sp>
        <p:nvSpPr>
          <p:cNvPr id="10" name="TextBox 9">
            <a:extLst>
              <a:ext uri="{FF2B5EF4-FFF2-40B4-BE49-F238E27FC236}">
                <a16:creationId xmlns:a16="http://schemas.microsoft.com/office/drawing/2014/main" id="{661CB876-433C-7738-FBB7-1DDB8633C567}"/>
              </a:ext>
            </a:extLst>
          </p:cNvPr>
          <p:cNvSpPr txBox="1"/>
          <p:nvPr/>
        </p:nvSpPr>
        <p:spPr>
          <a:xfrm>
            <a:off x="837458" y="3259471"/>
            <a:ext cx="2492542" cy="369332"/>
          </a:xfrm>
          <a:prstGeom prst="rect">
            <a:avLst/>
          </a:prstGeom>
          <a:noFill/>
        </p:spPr>
        <p:txBody>
          <a:bodyPr wrap="none" rtlCol="0">
            <a:spAutoFit/>
          </a:bodyPr>
          <a:lstStyle/>
          <a:p>
            <a:r>
              <a:rPr lang="en-NZ"/>
              <a:t>Technical Considerations</a:t>
            </a:r>
          </a:p>
        </p:txBody>
      </p:sp>
      <p:sp>
        <p:nvSpPr>
          <p:cNvPr id="12" name="TextBox 11">
            <a:extLst>
              <a:ext uri="{FF2B5EF4-FFF2-40B4-BE49-F238E27FC236}">
                <a16:creationId xmlns:a16="http://schemas.microsoft.com/office/drawing/2014/main" id="{CAB3CF3C-B36C-FF41-C124-4E3DCF896F21}"/>
              </a:ext>
            </a:extLst>
          </p:cNvPr>
          <p:cNvSpPr txBox="1"/>
          <p:nvPr/>
        </p:nvSpPr>
        <p:spPr>
          <a:xfrm>
            <a:off x="839790" y="1708191"/>
            <a:ext cx="1634358" cy="369332"/>
          </a:xfrm>
          <a:prstGeom prst="rect">
            <a:avLst/>
          </a:prstGeom>
          <a:noFill/>
        </p:spPr>
        <p:txBody>
          <a:bodyPr wrap="none" rtlCol="0">
            <a:spAutoFit/>
          </a:bodyPr>
          <a:lstStyle/>
          <a:p>
            <a:r>
              <a:rPr lang="en-NZ"/>
              <a:t>Request Details</a:t>
            </a:r>
          </a:p>
        </p:txBody>
      </p:sp>
      <p:sp>
        <p:nvSpPr>
          <p:cNvPr id="13" name="TextBox 12">
            <a:extLst>
              <a:ext uri="{FF2B5EF4-FFF2-40B4-BE49-F238E27FC236}">
                <a16:creationId xmlns:a16="http://schemas.microsoft.com/office/drawing/2014/main" id="{1F4BEA59-7A3B-F73F-A1EE-E3928FFE7741}"/>
              </a:ext>
            </a:extLst>
          </p:cNvPr>
          <p:cNvSpPr txBox="1"/>
          <p:nvPr/>
        </p:nvSpPr>
        <p:spPr>
          <a:xfrm>
            <a:off x="837458" y="6009621"/>
            <a:ext cx="2087559" cy="369332"/>
          </a:xfrm>
          <a:prstGeom prst="rect">
            <a:avLst/>
          </a:prstGeom>
          <a:noFill/>
        </p:spPr>
        <p:txBody>
          <a:bodyPr wrap="none" rtlCol="0">
            <a:spAutoFit/>
          </a:bodyPr>
          <a:lstStyle/>
          <a:p>
            <a:r>
              <a:rPr lang="en-NZ"/>
              <a:t>Technology Involved</a:t>
            </a:r>
          </a:p>
        </p:txBody>
      </p:sp>
    </p:spTree>
    <p:extLst>
      <p:ext uri="{BB962C8B-B14F-4D97-AF65-F5344CB8AC3E}">
        <p14:creationId xmlns:p14="http://schemas.microsoft.com/office/powerpoint/2010/main" val="2112399321"/>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E382F34-A817-867C-2F1B-F791379442BF}"/>
              </a:ext>
            </a:extLst>
          </p:cNvPr>
          <p:cNvSpPr txBox="1"/>
          <p:nvPr/>
        </p:nvSpPr>
        <p:spPr>
          <a:xfrm>
            <a:off x="837458" y="421175"/>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a:ln>
                  <a:noFill/>
                </a:ln>
                <a:solidFill>
                  <a:schemeClr val="accent2"/>
                </a:solidFill>
                <a:effectLst/>
                <a:latin typeface="Calibri" panose="020F0502020204030204" pitchFamily="34" charset="0"/>
                <a:ea typeface="DengXian Light" panose="02010600030101010101" pitchFamily="2" charset="-122"/>
                <a:cs typeface="Calibri" panose="020F0502020204030204" pitchFamily="34" charset="0"/>
              </a:rPr>
              <a:t>Business Problem Overview</a:t>
            </a:r>
            <a:endParaRPr kumimoji="0" lang="en-NZ" altLang="en-US" sz="3200" b="0" i="0" u="none" strike="noStrike" cap="none" normalizeH="0" baseline="0" bmk="">
              <a:ln>
                <a:noFill/>
              </a:ln>
              <a:solidFill>
                <a:schemeClr val="accent2"/>
              </a:solidFill>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18" name="Content Placeholder 5" descr="A black and white text&#10;&#10;Description automatically generated">
            <a:extLst>
              <a:ext uri="{FF2B5EF4-FFF2-40B4-BE49-F238E27FC236}">
                <a16:creationId xmlns:a16="http://schemas.microsoft.com/office/drawing/2014/main" id="{A3DFB7B2-B442-4546-9DA7-CF044CCFC669}"/>
              </a:ext>
            </a:extLst>
          </p:cNvPr>
          <p:cNvPicPr>
            <a:picLocks noChangeAspect="1"/>
          </p:cNvPicPr>
          <p:nvPr/>
        </p:nvPicPr>
        <p:blipFill>
          <a:blip r:embed="rId3"/>
          <a:stretch>
            <a:fillRect/>
          </a:stretch>
        </p:blipFill>
        <p:spPr>
          <a:xfrm>
            <a:off x="9908591" y="233012"/>
            <a:ext cx="1817426" cy="772938"/>
          </a:xfrm>
          <a:prstGeom prst="rect">
            <a:avLst/>
          </a:prstGeom>
        </p:spPr>
      </p:pic>
      <p:graphicFrame>
        <p:nvGraphicFramePr>
          <p:cNvPr id="6" name="Table 5">
            <a:extLst>
              <a:ext uri="{FF2B5EF4-FFF2-40B4-BE49-F238E27FC236}">
                <a16:creationId xmlns:a16="http://schemas.microsoft.com/office/drawing/2014/main" id="{623EEDCC-90A5-9201-8406-B24DBEDC7233}"/>
              </a:ext>
            </a:extLst>
          </p:cNvPr>
          <p:cNvGraphicFramePr>
            <a:graphicFrameLocks noGrp="1"/>
          </p:cNvGraphicFramePr>
          <p:nvPr>
            <p:extLst>
              <p:ext uri="{D42A27DB-BD31-4B8C-83A1-F6EECF244321}">
                <p14:modId xmlns:p14="http://schemas.microsoft.com/office/powerpoint/2010/main" val="4082958251"/>
              </p:ext>
            </p:extLst>
          </p:nvPr>
        </p:nvGraphicFramePr>
        <p:xfrm>
          <a:off x="7775368" y="5022851"/>
          <a:ext cx="4111884" cy="1462015"/>
        </p:xfrm>
        <a:graphic>
          <a:graphicData uri="http://schemas.openxmlformats.org/drawingml/2006/table">
            <a:tbl>
              <a:tblPr firstRow="1" firstCol="1" bandRow="1">
                <a:tableStyleId>{F5AB1C69-6EDB-4FF4-983F-18BD219EF322}</a:tableStyleId>
              </a:tblPr>
              <a:tblGrid>
                <a:gridCol w="1161598">
                  <a:extLst>
                    <a:ext uri="{9D8B030D-6E8A-4147-A177-3AD203B41FA5}">
                      <a16:colId xmlns:a16="http://schemas.microsoft.com/office/drawing/2014/main" val="4123431260"/>
                    </a:ext>
                  </a:extLst>
                </a:gridCol>
                <a:gridCol w="1474915">
                  <a:extLst>
                    <a:ext uri="{9D8B030D-6E8A-4147-A177-3AD203B41FA5}">
                      <a16:colId xmlns:a16="http://schemas.microsoft.com/office/drawing/2014/main" val="956151099"/>
                    </a:ext>
                  </a:extLst>
                </a:gridCol>
                <a:gridCol w="1475371">
                  <a:extLst>
                    <a:ext uri="{9D8B030D-6E8A-4147-A177-3AD203B41FA5}">
                      <a16:colId xmlns:a16="http://schemas.microsoft.com/office/drawing/2014/main" val="4157516185"/>
                    </a:ext>
                  </a:extLst>
                </a:gridCol>
              </a:tblGrid>
              <a:tr h="233509">
                <a:tc>
                  <a:txBody>
                    <a:bodyPr/>
                    <a:lstStyle/>
                    <a:p>
                      <a:pPr>
                        <a:lnSpc>
                          <a:spcPct val="107000"/>
                        </a:lnSpc>
                        <a:spcAft>
                          <a:spcPts val="800"/>
                        </a:spcAft>
                      </a:pPr>
                      <a:r>
                        <a:rPr lang="en-NZ" sz="1100" kern="100" dirty="0">
                          <a:effectLst/>
                        </a:rPr>
                        <a:t>Request Details</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gridSpan="2">
                  <a:txBody>
                    <a:bodyPr/>
                    <a:lstStyle/>
                    <a:p>
                      <a:pPr>
                        <a:lnSpc>
                          <a:spcPct val="107000"/>
                        </a:lnSpc>
                        <a:spcAft>
                          <a:spcPts val="800"/>
                        </a:spcAft>
                      </a:pPr>
                      <a:r>
                        <a:rPr lang="en-NZ" sz="1100" kern="100" dirty="0">
                          <a:effectLst/>
                        </a:rPr>
                        <a:t>Response</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hMerge="1">
                  <a:txBody>
                    <a:bodyPr/>
                    <a:lstStyle/>
                    <a:p>
                      <a:endParaRPr lang="en-NZ"/>
                    </a:p>
                  </a:txBody>
                  <a:tcPr/>
                </a:tc>
                <a:extLst>
                  <a:ext uri="{0D108BD9-81ED-4DB2-BD59-A6C34878D82A}">
                    <a16:rowId xmlns:a16="http://schemas.microsoft.com/office/drawing/2014/main" val="2374956459"/>
                  </a:ext>
                </a:extLst>
              </a:tr>
              <a:tr h="233509">
                <a:tc>
                  <a:txBody>
                    <a:bodyPr/>
                    <a:lstStyle/>
                    <a:p>
                      <a:pPr>
                        <a:lnSpc>
                          <a:spcPct val="107000"/>
                        </a:lnSpc>
                        <a:spcAft>
                          <a:spcPts val="800"/>
                        </a:spcAft>
                      </a:pPr>
                      <a:r>
                        <a:rPr lang="en-NZ" sz="1100" kern="100" dirty="0">
                          <a:effectLst/>
                        </a:rPr>
                        <a:t>Requested By</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gridSpan="2">
                  <a:txBody>
                    <a:bodyPr/>
                    <a:lstStyle/>
                    <a:p>
                      <a:pPr>
                        <a:lnSpc>
                          <a:spcPct val="107000"/>
                        </a:lnSpc>
                        <a:spcAft>
                          <a:spcPts val="800"/>
                        </a:spcAft>
                      </a:pPr>
                      <a:r>
                        <a:rPr lang="en-US" sz="1100" kern="100" dirty="0">
                          <a:effectLst/>
                          <a:latin typeface="Calibri" panose="020F0502020204030204" pitchFamily="34" charset="0"/>
                          <a:ea typeface="DengXian" panose="02010600030101010101" pitchFamily="2" charset="-122"/>
                          <a:cs typeface="Cordia New" panose="020B0304020202020204" pitchFamily="34" charset="-34"/>
                        </a:rPr>
                        <a:t>Chris Negus</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hMerge="1">
                  <a:txBody>
                    <a:bodyPr/>
                    <a:lstStyle/>
                    <a:p>
                      <a:endParaRPr lang="en-NZ"/>
                    </a:p>
                  </a:txBody>
                  <a:tcPr/>
                </a:tc>
                <a:extLst>
                  <a:ext uri="{0D108BD9-81ED-4DB2-BD59-A6C34878D82A}">
                    <a16:rowId xmlns:a16="http://schemas.microsoft.com/office/drawing/2014/main" val="612797548"/>
                  </a:ext>
                </a:extLst>
              </a:tr>
              <a:tr h="410650">
                <a:tc>
                  <a:txBody>
                    <a:bodyPr/>
                    <a:lstStyle/>
                    <a:p>
                      <a:pPr>
                        <a:lnSpc>
                          <a:spcPct val="107000"/>
                        </a:lnSpc>
                        <a:spcAft>
                          <a:spcPts val="800"/>
                        </a:spcAft>
                      </a:pPr>
                      <a:r>
                        <a:rPr lang="en-NZ" sz="1100" kern="100" dirty="0">
                          <a:effectLst/>
                        </a:rPr>
                        <a:t>Entity, Team or Service</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gridSpan="2">
                  <a:txBody>
                    <a:bodyPr/>
                    <a:lstStyle/>
                    <a:p>
                      <a:pPr>
                        <a:lnSpc>
                          <a:spcPct val="107000"/>
                        </a:lnSpc>
                        <a:spcAft>
                          <a:spcPts val="800"/>
                        </a:spcAft>
                      </a:pP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hMerge="1">
                  <a:txBody>
                    <a:bodyPr/>
                    <a:lstStyle/>
                    <a:p>
                      <a:endParaRPr lang="en-NZ"/>
                    </a:p>
                  </a:txBody>
                  <a:tcPr/>
                </a:tc>
                <a:extLst>
                  <a:ext uri="{0D108BD9-81ED-4DB2-BD59-A6C34878D82A}">
                    <a16:rowId xmlns:a16="http://schemas.microsoft.com/office/drawing/2014/main" val="3983560474"/>
                  </a:ext>
                </a:extLst>
              </a:tr>
              <a:tr h="233509">
                <a:tc>
                  <a:txBody>
                    <a:bodyPr/>
                    <a:lstStyle/>
                    <a:p>
                      <a:pPr>
                        <a:lnSpc>
                          <a:spcPct val="107000"/>
                        </a:lnSpc>
                        <a:spcAft>
                          <a:spcPts val="800"/>
                        </a:spcAft>
                      </a:pPr>
                      <a:r>
                        <a:rPr lang="en-NZ" sz="1100" kern="100" dirty="0">
                          <a:effectLst/>
                        </a:rPr>
                        <a:t>Urgency &amp; Impact</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gn="ctr">
                        <a:lnSpc>
                          <a:spcPct val="107000"/>
                        </a:lnSpc>
                        <a:spcAft>
                          <a:spcPts val="800"/>
                        </a:spcAft>
                      </a:pPr>
                      <a:r>
                        <a:rPr lang="en-NZ" sz="1100" kern="100" dirty="0">
                          <a:effectLst/>
                        </a:rPr>
                        <a:t>Medium</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a:txBody>
                    <a:bodyPr/>
                    <a:lstStyle/>
                    <a:p>
                      <a:pPr algn="ctr">
                        <a:lnSpc>
                          <a:spcPct val="107000"/>
                        </a:lnSpc>
                        <a:spcAft>
                          <a:spcPts val="800"/>
                        </a:spcAft>
                      </a:pPr>
                      <a:r>
                        <a:rPr lang="en-NZ" sz="1100" kern="100" dirty="0">
                          <a:effectLst/>
                        </a:rPr>
                        <a:t>Low</a:t>
                      </a: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4191738058"/>
                  </a:ext>
                </a:extLst>
              </a:tr>
              <a:tr h="233509">
                <a:tc>
                  <a:txBody>
                    <a:bodyPr/>
                    <a:lstStyle/>
                    <a:p>
                      <a:pPr>
                        <a:lnSpc>
                          <a:spcPct val="107000"/>
                        </a:lnSpc>
                        <a:spcAft>
                          <a:spcPts val="800"/>
                        </a:spcAft>
                      </a:pP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gridSpan="2">
                  <a:txBody>
                    <a:bodyPr/>
                    <a:lstStyle/>
                    <a:p>
                      <a:pPr>
                        <a:lnSpc>
                          <a:spcPct val="107000"/>
                        </a:lnSpc>
                        <a:spcAft>
                          <a:spcPts val="800"/>
                        </a:spcAft>
                      </a:pPr>
                      <a:endParaRPr lang="en-NZ" sz="1100" kern="100" dirty="0">
                        <a:effectLst/>
                        <a:latin typeface="Calibri" panose="020F0502020204030204" pitchFamily="34" charset="0"/>
                        <a:ea typeface="DengXian" panose="02010600030101010101" pitchFamily="2" charset="-122"/>
                        <a:cs typeface="Cordia New" panose="020B0304020202020204" pitchFamily="34" charset="-34"/>
                      </a:endParaRPr>
                    </a:p>
                  </a:txBody>
                  <a:tcPr marL="68580" marR="68580" marT="0" marB="0"/>
                </a:tc>
                <a:tc hMerge="1">
                  <a:txBody>
                    <a:bodyPr/>
                    <a:lstStyle/>
                    <a:p>
                      <a:endParaRPr lang="en-NZ"/>
                    </a:p>
                  </a:txBody>
                  <a:tcPr/>
                </a:tc>
                <a:extLst>
                  <a:ext uri="{0D108BD9-81ED-4DB2-BD59-A6C34878D82A}">
                    <a16:rowId xmlns:a16="http://schemas.microsoft.com/office/drawing/2014/main" val="2456735738"/>
                  </a:ext>
                </a:extLst>
              </a:tr>
            </a:tbl>
          </a:graphicData>
        </a:graphic>
      </p:graphicFrame>
      <p:sp>
        <p:nvSpPr>
          <p:cNvPr id="11" name="TextBox 10">
            <a:extLst>
              <a:ext uri="{FF2B5EF4-FFF2-40B4-BE49-F238E27FC236}">
                <a16:creationId xmlns:a16="http://schemas.microsoft.com/office/drawing/2014/main" id="{AA830AAA-726E-AB3B-E2D1-1D7598DE10C3}"/>
              </a:ext>
            </a:extLst>
          </p:cNvPr>
          <p:cNvSpPr txBox="1"/>
          <p:nvPr/>
        </p:nvSpPr>
        <p:spPr>
          <a:xfrm>
            <a:off x="837458" y="902988"/>
            <a:ext cx="8535741" cy="923330"/>
          </a:xfrm>
          <a:prstGeom prst="rect">
            <a:avLst/>
          </a:prstGeom>
          <a:noFill/>
        </p:spPr>
        <p:txBody>
          <a:bodyPr wrap="square" lIns="91440" tIns="45720" rIns="91440" bIns="45720" rtlCol="0" anchor="t">
            <a:spAutoFit/>
          </a:bodyPr>
          <a:lstStyle/>
          <a:p>
            <a:r>
              <a:rPr lang="en-NZ" i="1" dirty="0"/>
              <a:t>This section provides a general overview of the problem space. It should describe what the problem is, what is needed, who is asking and how urgent is it, along with any other information or considerations</a:t>
            </a:r>
          </a:p>
        </p:txBody>
      </p:sp>
      <p:cxnSp>
        <p:nvCxnSpPr>
          <p:cNvPr id="15" name="Straight Connector 14">
            <a:extLst>
              <a:ext uri="{FF2B5EF4-FFF2-40B4-BE49-F238E27FC236}">
                <a16:creationId xmlns:a16="http://schemas.microsoft.com/office/drawing/2014/main" id="{CE4FA211-956A-7615-9797-19197060F859}"/>
              </a:ext>
            </a:extLst>
          </p:cNvPr>
          <p:cNvCxnSpPr/>
          <p:nvPr/>
        </p:nvCxnSpPr>
        <p:spPr>
          <a:xfrm>
            <a:off x="952235" y="902988"/>
            <a:ext cx="83058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9D04386-AA77-DB91-9535-D45339A74F53}"/>
              </a:ext>
            </a:extLst>
          </p:cNvPr>
          <p:cNvSpPr txBox="1"/>
          <p:nvPr/>
        </p:nvSpPr>
        <p:spPr>
          <a:xfrm>
            <a:off x="952235" y="1826318"/>
            <a:ext cx="7191640" cy="2893100"/>
          </a:xfrm>
          <a:prstGeom prst="rect">
            <a:avLst/>
          </a:prstGeom>
          <a:noFill/>
        </p:spPr>
        <p:txBody>
          <a:bodyPr wrap="square">
            <a:spAutoFit/>
          </a:bodyPr>
          <a:lstStyle/>
          <a:p>
            <a:r>
              <a:rPr lang="en-NZ" sz="1400" dirty="0"/>
              <a:t>Emerge </a:t>
            </a:r>
            <a:r>
              <a:rPr lang="en-NZ" sz="1400" dirty="0" err="1"/>
              <a:t>PowerBI</a:t>
            </a:r>
            <a:r>
              <a:rPr lang="en-NZ" sz="1400" dirty="0"/>
              <a:t> Platform has around 90 reports accessed by 200 users. </a:t>
            </a:r>
            <a:r>
              <a:rPr lang="en-NZ" sz="1400" dirty="0" err="1"/>
              <a:t>PowerBI</a:t>
            </a:r>
            <a:r>
              <a:rPr lang="en-NZ" sz="1400" dirty="0"/>
              <a:t> Platform has legacy reports as well as reports developed from the New BI platform .</a:t>
            </a:r>
          </a:p>
          <a:p>
            <a:r>
              <a:rPr lang="en-NZ" sz="1400" dirty="0"/>
              <a:t>As a BI team, we want to analyse the usage of reports delivered by the BI Platform across all Emerge tenants and teams.</a:t>
            </a:r>
          </a:p>
          <a:p>
            <a:endParaRPr lang="en-NZ" sz="1400" dirty="0"/>
          </a:p>
          <a:p>
            <a:r>
              <a:rPr lang="en-NZ" sz="1400" dirty="0"/>
              <a:t>Power BI Activity logs only contain Up to 30 days of history which limits our insight capabilities to analyse usage or trend of reports.</a:t>
            </a:r>
          </a:p>
          <a:p>
            <a:endParaRPr lang="en-NZ" sz="1400" dirty="0"/>
          </a:p>
          <a:p>
            <a:r>
              <a:rPr lang="en-NZ" sz="1400" dirty="0"/>
              <a:t>Integrating Power BI activity event entities into an Azure Blob Storage Account(</a:t>
            </a:r>
            <a:r>
              <a:rPr lang="en-NZ" sz="1400" dirty="0" err="1"/>
              <a:t>dataLanding,ODS</a:t>
            </a:r>
            <a:r>
              <a:rPr lang="en-NZ" sz="1400" dirty="0"/>
              <a:t>) followed by EDW SQL database.</a:t>
            </a:r>
          </a:p>
          <a:p>
            <a:endParaRPr lang="en-NZ" sz="1400" dirty="0"/>
          </a:p>
          <a:p>
            <a:r>
              <a:rPr lang="en-NZ" sz="1400" dirty="0"/>
              <a:t>The stored data can then be used to build a custom usage report on top of the EDW data and can be integrated with Other EDW entities like employees and team to get better insight.</a:t>
            </a:r>
          </a:p>
        </p:txBody>
      </p:sp>
    </p:spTree>
    <p:extLst>
      <p:ext uri="{BB962C8B-B14F-4D97-AF65-F5344CB8AC3E}">
        <p14:creationId xmlns:p14="http://schemas.microsoft.com/office/powerpoint/2010/main" val="3330537214"/>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E382F34-A817-867C-2F1B-F791379442BF}"/>
              </a:ext>
            </a:extLst>
          </p:cNvPr>
          <p:cNvSpPr txBox="1"/>
          <p:nvPr/>
        </p:nvSpPr>
        <p:spPr>
          <a:xfrm>
            <a:off x="837458" y="421175"/>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a:ln>
                  <a:noFill/>
                </a:ln>
                <a:solidFill>
                  <a:schemeClr val="accent2"/>
                </a:solidFill>
                <a:effectLst/>
                <a:latin typeface="Calibri" panose="020F0502020204030204" pitchFamily="34" charset="0"/>
                <a:ea typeface="DengXian Light" panose="02010600030101010101" pitchFamily="2" charset="-122"/>
                <a:cs typeface="Calibri" panose="020F0502020204030204" pitchFamily="34" charset="0"/>
              </a:rPr>
              <a:t>TAB Guidance</a:t>
            </a:r>
            <a:endParaRPr kumimoji="0" lang="en-NZ" altLang="en-US" sz="3200" b="0" i="0" u="none" strike="noStrike" cap="none" normalizeH="0" baseline="0" bmk="">
              <a:ln>
                <a:noFill/>
              </a:ln>
              <a:solidFill>
                <a:schemeClr val="accent2"/>
              </a:solidFill>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18" name="Content Placeholder 5" descr="A black and white text&#10;&#10;Description automatically generated">
            <a:extLst>
              <a:ext uri="{FF2B5EF4-FFF2-40B4-BE49-F238E27FC236}">
                <a16:creationId xmlns:a16="http://schemas.microsoft.com/office/drawing/2014/main" id="{A3DFB7B2-B442-4546-9DA7-CF044CCFC669}"/>
              </a:ext>
            </a:extLst>
          </p:cNvPr>
          <p:cNvPicPr>
            <a:picLocks noChangeAspect="1"/>
          </p:cNvPicPr>
          <p:nvPr/>
        </p:nvPicPr>
        <p:blipFill>
          <a:blip r:embed="rId2"/>
          <a:stretch>
            <a:fillRect/>
          </a:stretch>
        </p:blipFill>
        <p:spPr>
          <a:xfrm>
            <a:off x="9908591" y="233012"/>
            <a:ext cx="1817426" cy="772938"/>
          </a:xfrm>
          <a:prstGeom prst="rect">
            <a:avLst/>
          </a:prstGeom>
        </p:spPr>
      </p:pic>
      <p:sp>
        <p:nvSpPr>
          <p:cNvPr id="11" name="TextBox 10">
            <a:extLst>
              <a:ext uri="{FF2B5EF4-FFF2-40B4-BE49-F238E27FC236}">
                <a16:creationId xmlns:a16="http://schemas.microsoft.com/office/drawing/2014/main" id="{AA830AAA-726E-AB3B-E2D1-1D7598DE10C3}"/>
              </a:ext>
            </a:extLst>
          </p:cNvPr>
          <p:cNvSpPr txBox="1"/>
          <p:nvPr/>
        </p:nvSpPr>
        <p:spPr>
          <a:xfrm>
            <a:off x="837458" y="902988"/>
            <a:ext cx="8420577" cy="369332"/>
          </a:xfrm>
          <a:prstGeom prst="rect">
            <a:avLst/>
          </a:prstGeom>
          <a:noFill/>
        </p:spPr>
        <p:txBody>
          <a:bodyPr wrap="square" rtlCol="0">
            <a:spAutoFit/>
          </a:bodyPr>
          <a:lstStyle/>
          <a:p>
            <a:r>
              <a:rPr lang="en-NZ" i="1"/>
              <a:t>This section captures any TAB or other input into the solution development</a:t>
            </a:r>
          </a:p>
        </p:txBody>
      </p:sp>
      <p:cxnSp>
        <p:nvCxnSpPr>
          <p:cNvPr id="15" name="Straight Connector 14">
            <a:extLst>
              <a:ext uri="{FF2B5EF4-FFF2-40B4-BE49-F238E27FC236}">
                <a16:creationId xmlns:a16="http://schemas.microsoft.com/office/drawing/2014/main" id="{CE4FA211-956A-7615-9797-19197060F859}"/>
              </a:ext>
            </a:extLst>
          </p:cNvPr>
          <p:cNvCxnSpPr/>
          <p:nvPr/>
        </p:nvCxnSpPr>
        <p:spPr>
          <a:xfrm>
            <a:off x="952235" y="902988"/>
            <a:ext cx="83058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9" name="Table 13">
            <a:extLst>
              <a:ext uri="{FF2B5EF4-FFF2-40B4-BE49-F238E27FC236}">
                <a16:creationId xmlns:a16="http://schemas.microsoft.com/office/drawing/2014/main" id="{7CE43DE8-3C57-ED51-44EC-AD9F862135B4}"/>
              </a:ext>
            </a:extLst>
          </p:cNvPr>
          <p:cNvGraphicFramePr>
            <a:graphicFrameLocks noGrp="1"/>
          </p:cNvGraphicFramePr>
          <p:nvPr>
            <p:extLst>
              <p:ext uri="{D42A27DB-BD31-4B8C-83A1-F6EECF244321}">
                <p14:modId xmlns:p14="http://schemas.microsoft.com/office/powerpoint/2010/main" val="908160700"/>
              </p:ext>
            </p:extLst>
          </p:nvPr>
        </p:nvGraphicFramePr>
        <p:xfrm>
          <a:off x="952236" y="1643591"/>
          <a:ext cx="10639690" cy="3235960"/>
        </p:xfrm>
        <a:graphic>
          <a:graphicData uri="http://schemas.openxmlformats.org/drawingml/2006/table">
            <a:tbl>
              <a:tblPr firstRow="1" bandRow="1">
                <a:tableStyleId>{F5AB1C69-6EDB-4FF4-983F-18BD219EF322}</a:tableStyleId>
              </a:tblPr>
              <a:tblGrid>
                <a:gridCol w="2126745">
                  <a:extLst>
                    <a:ext uri="{9D8B030D-6E8A-4147-A177-3AD203B41FA5}">
                      <a16:colId xmlns:a16="http://schemas.microsoft.com/office/drawing/2014/main" val="1935754590"/>
                    </a:ext>
                  </a:extLst>
                </a:gridCol>
                <a:gridCol w="6846825">
                  <a:extLst>
                    <a:ext uri="{9D8B030D-6E8A-4147-A177-3AD203B41FA5}">
                      <a16:colId xmlns:a16="http://schemas.microsoft.com/office/drawing/2014/main" val="3228143392"/>
                    </a:ext>
                  </a:extLst>
                </a:gridCol>
                <a:gridCol w="1666120">
                  <a:extLst>
                    <a:ext uri="{9D8B030D-6E8A-4147-A177-3AD203B41FA5}">
                      <a16:colId xmlns:a16="http://schemas.microsoft.com/office/drawing/2014/main" val="2914615576"/>
                    </a:ext>
                  </a:extLst>
                </a:gridCol>
              </a:tblGrid>
              <a:tr h="370840">
                <a:tc>
                  <a:txBody>
                    <a:bodyPr/>
                    <a:lstStyle/>
                    <a:p>
                      <a:r>
                        <a:rPr lang="en-NZ"/>
                        <a:t>Section</a:t>
                      </a:r>
                    </a:p>
                  </a:txBody>
                  <a:tcPr/>
                </a:tc>
                <a:tc>
                  <a:txBody>
                    <a:bodyPr/>
                    <a:lstStyle/>
                    <a:p>
                      <a:r>
                        <a:rPr lang="en-NZ"/>
                        <a:t>Input Capture</a:t>
                      </a:r>
                    </a:p>
                  </a:txBody>
                  <a:tcPr/>
                </a:tc>
                <a:tc>
                  <a:txBody>
                    <a:bodyPr/>
                    <a:lstStyle/>
                    <a:p>
                      <a:r>
                        <a:rPr lang="en-NZ"/>
                        <a:t>Suggested by</a:t>
                      </a:r>
                    </a:p>
                  </a:txBody>
                  <a:tcPr/>
                </a:tc>
                <a:extLst>
                  <a:ext uri="{0D108BD9-81ED-4DB2-BD59-A6C34878D82A}">
                    <a16:rowId xmlns:a16="http://schemas.microsoft.com/office/drawing/2014/main" val="906501184"/>
                  </a:ext>
                </a:extLst>
              </a:tr>
              <a:tr h="370840">
                <a:tc>
                  <a:txBody>
                    <a:bodyPr/>
                    <a:lstStyle/>
                    <a:p>
                      <a:r>
                        <a:rPr lang="en-NZ"/>
                        <a:t>Options for solution</a:t>
                      </a:r>
                    </a:p>
                  </a:txBody>
                  <a:tcPr/>
                </a:tc>
                <a:tc>
                  <a:txBody>
                    <a:bodyPr/>
                    <a:lstStyle/>
                    <a:p>
                      <a:r>
                        <a:rPr lang="en-US" dirty="0"/>
                        <a:t>Capture Activity log by calling </a:t>
                      </a:r>
                      <a:r>
                        <a:rPr lang="en-US" dirty="0" err="1"/>
                        <a:t>PowerBI</a:t>
                      </a:r>
                      <a:r>
                        <a:rPr lang="en-US" dirty="0"/>
                        <a:t> Rest API</a:t>
                      </a:r>
                      <a:endParaRPr lang="en-NZ" dirty="0"/>
                    </a:p>
                  </a:txBody>
                  <a:tcPr/>
                </a:tc>
                <a:tc>
                  <a:txBody>
                    <a:bodyPr/>
                    <a:lstStyle/>
                    <a:p>
                      <a:endParaRPr lang="en-NZ"/>
                    </a:p>
                  </a:txBody>
                  <a:tcPr/>
                </a:tc>
                <a:extLst>
                  <a:ext uri="{0D108BD9-81ED-4DB2-BD59-A6C34878D82A}">
                    <a16:rowId xmlns:a16="http://schemas.microsoft.com/office/drawing/2014/main" val="741822041"/>
                  </a:ext>
                </a:extLst>
              </a:tr>
              <a:tr h="370840">
                <a:tc>
                  <a:txBody>
                    <a:bodyPr/>
                    <a:lstStyle/>
                    <a:p>
                      <a:r>
                        <a:rPr lang="en-NZ"/>
                        <a:t>Technology Stack</a:t>
                      </a:r>
                    </a:p>
                  </a:txBody>
                  <a:tcPr/>
                </a:tc>
                <a:tc>
                  <a:txBody>
                    <a:bodyPr/>
                    <a:lstStyle/>
                    <a:p>
                      <a:r>
                        <a:rPr lang="en-US" dirty="0"/>
                        <a:t>Azure data factory ,Synapse</a:t>
                      </a:r>
                      <a:endParaRPr lang="en-NZ" dirty="0"/>
                    </a:p>
                  </a:txBody>
                  <a:tcPr/>
                </a:tc>
                <a:tc>
                  <a:txBody>
                    <a:bodyPr/>
                    <a:lstStyle/>
                    <a:p>
                      <a:endParaRPr lang="en-NZ"/>
                    </a:p>
                  </a:txBody>
                  <a:tcPr/>
                </a:tc>
                <a:extLst>
                  <a:ext uri="{0D108BD9-81ED-4DB2-BD59-A6C34878D82A}">
                    <a16:rowId xmlns:a16="http://schemas.microsoft.com/office/drawing/2014/main" val="1683596115"/>
                  </a:ext>
                </a:extLst>
              </a:tr>
              <a:tr h="370840">
                <a:tc>
                  <a:txBody>
                    <a:bodyPr/>
                    <a:lstStyle/>
                    <a:p>
                      <a:r>
                        <a:rPr lang="en-NZ"/>
                        <a:t>Data</a:t>
                      </a:r>
                    </a:p>
                  </a:txBody>
                  <a:tcPr/>
                </a:tc>
                <a:tc>
                  <a:txBody>
                    <a:bodyPr/>
                    <a:lstStyle/>
                    <a:p>
                      <a:r>
                        <a:rPr lang="en-US" dirty="0"/>
                        <a:t>Power BI activity data ,Activity type</a:t>
                      </a:r>
                      <a:endParaRPr lang="en-NZ" dirty="0"/>
                    </a:p>
                  </a:txBody>
                  <a:tcPr/>
                </a:tc>
                <a:tc>
                  <a:txBody>
                    <a:bodyPr/>
                    <a:lstStyle/>
                    <a:p>
                      <a:endParaRPr lang="en-NZ"/>
                    </a:p>
                  </a:txBody>
                  <a:tcPr/>
                </a:tc>
                <a:extLst>
                  <a:ext uri="{0D108BD9-81ED-4DB2-BD59-A6C34878D82A}">
                    <a16:rowId xmlns:a16="http://schemas.microsoft.com/office/drawing/2014/main" val="5281813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a:t>Security</a:t>
                      </a:r>
                    </a:p>
                  </a:txBody>
                  <a:tcPr/>
                </a:tc>
                <a:tc>
                  <a:txBody>
                    <a:bodyPr/>
                    <a:lstStyle/>
                    <a:p>
                      <a:r>
                        <a:rPr lang="en-US" dirty="0"/>
                        <a:t>New security group which can integrate Azure data factory to Power BI </a:t>
                      </a:r>
                      <a:endParaRPr lang="en-NZ" dirty="0"/>
                    </a:p>
                  </a:txBody>
                  <a:tcPr/>
                </a:tc>
                <a:tc>
                  <a:txBody>
                    <a:bodyPr/>
                    <a:lstStyle/>
                    <a:p>
                      <a:endParaRPr lang="en-NZ"/>
                    </a:p>
                  </a:txBody>
                  <a:tcPr/>
                </a:tc>
                <a:extLst>
                  <a:ext uri="{0D108BD9-81ED-4DB2-BD59-A6C34878D82A}">
                    <a16:rowId xmlns:a16="http://schemas.microsoft.com/office/drawing/2014/main" val="3805605133"/>
                  </a:ext>
                </a:extLst>
              </a:tr>
              <a:tr h="370840">
                <a:tc>
                  <a:txBody>
                    <a:bodyPr/>
                    <a:lstStyle/>
                    <a:p>
                      <a:r>
                        <a:rPr lang="en-NZ"/>
                        <a:t>Consultation</a:t>
                      </a:r>
                    </a:p>
                  </a:txBody>
                  <a:tcPr/>
                </a:tc>
                <a:tc>
                  <a:txBody>
                    <a:bodyPr/>
                    <a:lstStyle/>
                    <a:p>
                      <a:endParaRPr lang="en-NZ" dirty="0"/>
                    </a:p>
                  </a:txBody>
                  <a:tcPr/>
                </a:tc>
                <a:tc>
                  <a:txBody>
                    <a:bodyPr/>
                    <a:lstStyle/>
                    <a:p>
                      <a:endParaRPr lang="en-NZ"/>
                    </a:p>
                  </a:txBody>
                  <a:tcPr/>
                </a:tc>
                <a:extLst>
                  <a:ext uri="{0D108BD9-81ED-4DB2-BD59-A6C34878D82A}">
                    <a16:rowId xmlns:a16="http://schemas.microsoft.com/office/drawing/2014/main" val="874705015"/>
                  </a:ext>
                </a:extLst>
              </a:tr>
              <a:tr h="370840">
                <a:tc>
                  <a:txBody>
                    <a:bodyPr/>
                    <a:lstStyle/>
                    <a:p>
                      <a:r>
                        <a:rPr lang="en-NZ"/>
                        <a:t>Support considerations</a:t>
                      </a:r>
                    </a:p>
                  </a:txBody>
                  <a:tcPr/>
                </a:tc>
                <a:tc>
                  <a:txBody>
                    <a:bodyPr/>
                    <a:lstStyle/>
                    <a:p>
                      <a:endParaRPr lang="en-NZ" dirty="0"/>
                    </a:p>
                  </a:txBody>
                  <a:tcPr/>
                </a:tc>
                <a:tc>
                  <a:txBody>
                    <a:bodyPr/>
                    <a:lstStyle/>
                    <a:p>
                      <a:endParaRPr lang="en-NZ"/>
                    </a:p>
                  </a:txBody>
                  <a:tcPr/>
                </a:tc>
                <a:extLst>
                  <a:ext uri="{0D108BD9-81ED-4DB2-BD59-A6C34878D82A}">
                    <a16:rowId xmlns:a16="http://schemas.microsoft.com/office/drawing/2014/main" val="2446425062"/>
                  </a:ext>
                </a:extLst>
              </a:tr>
              <a:tr h="370840">
                <a:tc>
                  <a:txBody>
                    <a:bodyPr/>
                    <a:lstStyle/>
                    <a:p>
                      <a:r>
                        <a:rPr lang="en-NZ"/>
                        <a:t>Licensing and Costs</a:t>
                      </a:r>
                    </a:p>
                  </a:txBody>
                  <a:tcPr/>
                </a:tc>
                <a:tc>
                  <a:txBody>
                    <a:bodyPr/>
                    <a:lstStyle/>
                    <a:p>
                      <a:endParaRPr lang="en-NZ"/>
                    </a:p>
                  </a:txBody>
                  <a:tcPr/>
                </a:tc>
                <a:tc>
                  <a:txBody>
                    <a:bodyPr/>
                    <a:lstStyle/>
                    <a:p>
                      <a:endParaRPr lang="en-NZ" dirty="0"/>
                    </a:p>
                  </a:txBody>
                  <a:tcPr/>
                </a:tc>
                <a:extLst>
                  <a:ext uri="{0D108BD9-81ED-4DB2-BD59-A6C34878D82A}">
                    <a16:rowId xmlns:a16="http://schemas.microsoft.com/office/drawing/2014/main" val="3062080815"/>
                  </a:ext>
                </a:extLst>
              </a:tr>
            </a:tbl>
          </a:graphicData>
        </a:graphic>
      </p:graphicFrame>
    </p:spTree>
    <p:extLst>
      <p:ext uri="{BB962C8B-B14F-4D97-AF65-F5344CB8AC3E}">
        <p14:creationId xmlns:p14="http://schemas.microsoft.com/office/powerpoint/2010/main" val="3227699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E382F34-A817-867C-2F1B-F791379442BF}"/>
              </a:ext>
            </a:extLst>
          </p:cNvPr>
          <p:cNvSpPr txBox="1"/>
          <p:nvPr/>
        </p:nvSpPr>
        <p:spPr>
          <a:xfrm>
            <a:off x="837458" y="421175"/>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dirty="0">
                <a:ln>
                  <a:noFill/>
                </a:ln>
                <a:solidFill>
                  <a:schemeClr val="accent2"/>
                </a:solidFill>
                <a:effectLst/>
                <a:latin typeface="Calibri" panose="020F0502020204030204" pitchFamily="34" charset="0"/>
                <a:ea typeface="DengXian Light" panose="02010600030101010101" pitchFamily="2" charset="-122"/>
                <a:cs typeface="Calibri" panose="020F0502020204030204" pitchFamily="34" charset="0"/>
              </a:rPr>
              <a:t>Data Model </a:t>
            </a:r>
            <a:endParaRPr kumimoji="0" lang="en-NZ" altLang="en-US" sz="3200" b="0" i="0" u="none" strike="noStrike" cap="none" normalizeH="0" baseline="0" dirty="0" bmk="">
              <a:ln>
                <a:noFill/>
              </a:ln>
              <a:solidFill>
                <a:schemeClr val="accent2"/>
              </a:solidFill>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18" name="Content Placeholder 5" descr="A black and white text&#10;&#10;Description automatically generated">
            <a:extLst>
              <a:ext uri="{FF2B5EF4-FFF2-40B4-BE49-F238E27FC236}">
                <a16:creationId xmlns:a16="http://schemas.microsoft.com/office/drawing/2014/main" id="{A3DFB7B2-B442-4546-9DA7-CF044CCFC669}"/>
              </a:ext>
            </a:extLst>
          </p:cNvPr>
          <p:cNvPicPr>
            <a:picLocks noChangeAspect="1"/>
          </p:cNvPicPr>
          <p:nvPr/>
        </p:nvPicPr>
        <p:blipFill>
          <a:blip r:embed="rId2"/>
          <a:stretch>
            <a:fillRect/>
          </a:stretch>
        </p:blipFill>
        <p:spPr>
          <a:xfrm>
            <a:off x="9908591" y="233012"/>
            <a:ext cx="1817426" cy="772938"/>
          </a:xfrm>
          <a:prstGeom prst="rect">
            <a:avLst/>
          </a:prstGeom>
        </p:spPr>
      </p:pic>
      <p:sp>
        <p:nvSpPr>
          <p:cNvPr id="11" name="TextBox 10">
            <a:extLst>
              <a:ext uri="{FF2B5EF4-FFF2-40B4-BE49-F238E27FC236}">
                <a16:creationId xmlns:a16="http://schemas.microsoft.com/office/drawing/2014/main" id="{AA830AAA-726E-AB3B-E2D1-1D7598DE10C3}"/>
              </a:ext>
            </a:extLst>
          </p:cNvPr>
          <p:cNvSpPr txBox="1"/>
          <p:nvPr/>
        </p:nvSpPr>
        <p:spPr>
          <a:xfrm>
            <a:off x="837458" y="902988"/>
            <a:ext cx="6734651" cy="369332"/>
          </a:xfrm>
          <a:prstGeom prst="rect">
            <a:avLst/>
          </a:prstGeom>
          <a:noFill/>
        </p:spPr>
        <p:txBody>
          <a:bodyPr wrap="square" rtlCol="0">
            <a:spAutoFit/>
          </a:bodyPr>
          <a:lstStyle/>
          <a:p>
            <a:r>
              <a:rPr lang="en-NZ" i="1"/>
              <a:t>This section provides a high-level overview of the proposed design</a:t>
            </a:r>
          </a:p>
        </p:txBody>
      </p:sp>
      <p:cxnSp>
        <p:nvCxnSpPr>
          <p:cNvPr id="15" name="Straight Connector 14">
            <a:extLst>
              <a:ext uri="{FF2B5EF4-FFF2-40B4-BE49-F238E27FC236}">
                <a16:creationId xmlns:a16="http://schemas.microsoft.com/office/drawing/2014/main" id="{CE4FA211-956A-7615-9797-19197060F859}"/>
              </a:ext>
            </a:extLst>
          </p:cNvPr>
          <p:cNvCxnSpPr/>
          <p:nvPr/>
        </p:nvCxnSpPr>
        <p:spPr>
          <a:xfrm>
            <a:off x="952235" y="902988"/>
            <a:ext cx="83058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60AD3AB-D414-E2BF-9AF2-32801FFC1836}"/>
              </a:ext>
            </a:extLst>
          </p:cNvPr>
          <p:cNvCxnSpPr>
            <a:cxnSpLocks/>
          </p:cNvCxnSpPr>
          <p:nvPr/>
        </p:nvCxnSpPr>
        <p:spPr>
          <a:xfrm>
            <a:off x="4400550" y="1844839"/>
            <a:ext cx="0" cy="440569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F430D5D-F53A-C414-1AE1-9F3785EA8DD5}"/>
              </a:ext>
            </a:extLst>
          </p:cNvPr>
          <p:cNvPicPr>
            <a:picLocks noChangeAspect="1"/>
          </p:cNvPicPr>
          <p:nvPr/>
        </p:nvPicPr>
        <p:blipFill>
          <a:blip r:embed="rId3"/>
          <a:stretch>
            <a:fillRect/>
          </a:stretch>
        </p:blipFill>
        <p:spPr>
          <a:xfrm>
            <a:off x="5752729" y="1941169"/>
            <a:ext cx="5830917" cy="3153215"/>
          </a:xfrm>
          <a:prstGeom prst="rect">
            <a:avLst/>
          </a:prstGeom>
        </p:spPr>
      </p:pic>
      <p:pic>
        <p:nvPicPr>
          <p:cNvPr id="10" name="Picture 9">
            <a:extLst>
              <a:ext uri="{FF2B5EF4-FFF2-40B4-BE49-F238E27FC236}">
                <a16:creationId xmlns:a16="http://schemas.microsoft.com/office/drawing/2014/main" id="{4836CB8C-E5FD-800E-A1B4-B60F10EE300B}"/>
              </a:ext>
            </a:extLst>
          </p:cNvPr>
          <p:cNvPicPr>
            <a:picLocks noChangeAspect="1"/>
          </p:cNvPicPr>
          <p:nvPr/>
        </p:nvPicPr>
        <p:blipFill>
          <a:blip r:embed="rId4"/>
          <a:stretch>
            <a:fillRect/>
          </a:stretch>
        </p:blipFill>
        <p:spPr>
          <a:xfrm>
            <a:off x="183334" y="1941169"/>
            <a:ext cx="4006926" cy="2619375"/>
          </a:xfrm>
          <a:prstGeom prst="rect">
            <a:avLst/>
          </a:prstGeom>
        </p:spPr>
      </p:pic>
    </p:spTree>
    <p:extLst>
      <p:ext uri="{BB962C8B-B14F-4D97-AF65-F5344CB8AC3E}">
        <p14:creationId xmlns:p14="http://schemas.microsoft.com/office/powerpoint/2010/main" val="1375929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E382F34-A817-867C-2F1B-F791379442BF}"/>
              </a:ext>
            </a:extLst>
          </p:cNvPr>
          <p:cNvSpPr txBox="1"/>
          <p:nvPr/>
        </p:nvSpPr>
        <p:spPr>
          <a:xfrm>
            <a:off x="837458" y="421175"/>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a:ln>
                  <a:noFill/>
                </a:ln>
                <a:solidFill>
                  <a:schemeClr val="accent2"/>
                </a:solidFill>
                <a:effectLst/>
                <a:latin typeface="Calibri" panose="020F0502020204030204" pitchFamily="34" charset="0"/>
                <a:ea typeface="DengXian Light" panose="02010600030101010101" pitchFamily="2" charset="-122"/>
                <a:cs typeface="Calibri" panose="020F0502020204030204" pitchFamily="34" charset="0"/>
              </a:rPr>
              <a:t>Proposed Solution</a:t>
            </a:r>
            <a:endParaRPr kumimoji="0" lang="en-NZ" altLang="en-US" sz="3200" b="0" i="0" u="none" strike="noStrike" cap="none" normalizeH="0" baseline="0" bmk="">
              <a:ln>
                <a:noFill/>
              </a:ln>
              <a:solidFill>
                <a:schemeClr val="accent2"/>
              </a:solidFill>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18" name="Content Placeholder 5" descr="A black and white text&#10;&#10;Description automatically generated">
            <a:extLst>
              <a:ext uri="{FF2B5EF4-FFF2-40B4-BE49-F238E27FC236}">
                <a16:creationId xmlns:a16="http://schemas.microsoft.com/office/drawing/2014/main" id="{A3DFB7B2-B442-4546-9DA7-CF044CCFC669}"/>
              </a:ext>
            </a:extLst>
          </p:cNvPr>
          <p:cNvPicPr>
            <a:picLocks noChangeAspect="1"/>
          </p:cNvPicPr>
          <p:nvPr/>
        </p:nvPicPr>
        <p:blipFill>
          <a:blip r:embed="rId2"/>
          <a:stretch>
            <a:fillRect/>
          </a:stretch>
        </p:blipFill>
        <p:spPr>
          <a:xfrm>
            <a:off x="9908591" y="233012"/>
            <a:ext cx="1817426" cy="772938"/>
          </a:xfrm>
          <a:prstGeom prst="rect">
            <a:avLst/>
          </a:prstGeom>
        </p:spPr>
      </p:pic>
      <p:sp>
        <p:nvSpPr>
          <p:cNvPr id="11" name="TextBox 10">
            <a:extLst>
              <a:ext uri="{FF2B5EF4-FFF2-40B4-BE49-F238E27FC236}">
                <a16:creationId xmlns:a16="http://schemas.microsoft.com/office/drawing/2014/main" id="{AA830AAA-726E-AB3B-E2D1-1D7598DE10C3}"/>
              </a:ext>
            </a:extLst>
          </p:cNvPr>
          <p:cNvSpPr txBox="1"/>
          <p:nvPr/>
        </p:nvSpPr>
        <p:spPr>
          <a:xfrm>
            <a:off x="837458" y="902988"/>
            <a:ext cx="6734651" cy="369332"/>
          </a:xfrm>
          <a:prstGeom prst="rect">
            <a:avLst/>
          </a:prstGeom>
          <a:noFill/>
        </p:spPr>
        <p:txBody>
          <a:bodyPr wrap="square" rtlCol="0">
            <a:spAutoFit/>
          </a:bodyPr>
          <a:lstStyle/>
          <a:p>
            <a:r>
              <a:rPr lang="en-NZ" i="1"/>
              <a:t>This section provides a high-level overview of the proposed design</a:t>
            </a:r>
          </a:p>
        </p:txBody>
      </p:sp>
      <p:cxnSp>
        <p:nvCxnSpPr>
          <p:cNvPr id="15" name="Straight Connector 14">
            <a:extLst>
              <a:ext uri="{FF2B5EF4-FFF2-40B4-BE49-F238E27FC236}">
                <a16:creationId xmlns:a16="http://schemas.microsoft.com/office/drawing/2014/main" id="{CE4FA211-956A-7615-9797-19197060F859}"/>
              </a:ext>
            </a:extLst>
          </p:cNvPr>
          <p:cNvCxnSpPr/>
          <p:nvPr/>
        </p:nvCxnSpPr>
        <p:spPr>
          <a:xfrm>
            <a:off x="952235" y="902988"/>
            <a:ext cx="83058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60AD3AB-D414-E2BF-9AF2-32801FFC1836}"/>
              </a:ext>
            </a:extLst>
          </p:cNvPr>
          <p:cNvCxnSpPr>
            <a:cxnSpLocks/>
          </p:cNvCxnSpPr>
          <p:nvPr/>
        </p:nvCxnSpPr>
        <p:spPr>
          <a:xfrm>
            <a:off x="4400550" y="1844839"/>
            <a:ext cx="0" cy="440569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AAB58BE-35D1-5A1E-1C7C-28D34C2BD5FE}"/>
              </a:ext>
            </a:extLst>
          </p:cNvPr>
          <p:cNvSpPr txBox="1"/>
          <p:nvPr/>
        </p:nvSpPr>
        <p:spPr>
          <a:xfrm>
            <a:off x="837458" y="1844839"/>
            <a:ext cx="3563092" cy="2862322"/>
          </a:xfrm>
          <a:prstGeom prst="rect">
            <a:avLst/>
          </a:prstGeom>
          <a:noFill/>
        </p:spPr>
        <p:txBody>
          <a:bodyPr wrap="square" rtlCol="0">
            <a:spAutoFit/>
          </a:bodyPr>
          <a:lstStyle/>
          <a:p>
            <a:pPr marL="285750" indent="-285750">
              <a:buFont typeface="Arial" panose="020B0604020202020204" pitchFamily="34" charset="0"/>
              <a:buChar char="•"/>
            </a:pPr>
            <a:r>
              <a:rPr lang="en-NZ" dirty="0"/>
              <a:t>Power BI dataset is 12</a:t>
            </a:r>
            <a:r>
              <a:rPr lang="en-NZ" baseline="30000" dirty="0"/>
              <a:t>th</a:t>
            </a:r>
            <a:r>
              <a:rPr lang="en-NZ" dirty="0"/>
              <a:t> source to BI Platform </a:t>
            </a:r>
          </a:p>
          <a:p>
            <a:pPr marL="285750" indent="-285750">
              <a:buFont typeface="Arial" panose="020B0604020202020204" pitchFamily="34" charset="0"/>
              <a:buChar char="•"/>
            </a:pPr>
            <a:r>
              <a:rPr lang="en-NZ" dirty="0"/>
              <a:t>ADF will extract everyday data to the landing area.</a:t>
            </a:r>
          </a:p>
          <a:p>
            <a:pPr marL="285750" indent="-285750">
              <a:buFont typeface="Arial" panose="020B0604020202020204" pitchFamily="34" charset="0"/>
              <a:buChar char="•"/>
            </a:pPr>
            <a:r>
              <a:rPr lang="en-NZ" dirty="0"/>
              <a:t> Data will be extracted from the Landing area to ODS</a:t>
            </a:r>
          </a:p>
          <a:p>
            <a:pPr marL="285750" indent="-285750">
              <a:buFont typeface="Arial" panose="020B0604020202020204" pitchFamily="34" charset="0"/>
              <a:buChar char="•"/>
            </a:pPr>
            <a:r>
              <a:rPr lang="en-NZ" dirty="0"/>
              <a:t>ETL pipeline will extract and load incremental data to EDW.</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endParaRPr lang="en-NZ" dirty="0"/>
          </a:p>
        </p:txBody>
      </p:sp>
      <p:pic>
        <p:nvPicPr>
          <p:cNvPr id="3" name="Picture 2">
            <a:extLst>
              <a:ext uri="{FF2B5EF4-FFF2-40B4-BE49-F238E27FC236}">
                <a16:creationId xmlns:a16="http://schemas.microsoft.com/office/drawing/2014/main" id="{3659D040-C1D5-7681-B9B1-34F26317A483}"/>
              </a:ext>
            </a:extLst>
          </p:cNvPr>
          <p:cNvPicPr>
            <a:picLocks noChangeAspect="1"/>
          </p:cNvPicPr>
          <p:nvPr/>
        </p:nvPicPr>
        <p:blipFill>
          <a:blip r:embed="rId3"/>
          <a:stretch>
            <a:fillRect/>
          </a:stretch>
        </p:blipFill>
        <p:spPr>
          <a:xfrm>
            <a:off x="4527613" y="1615792"/>
            <a:ext cx="6645204" cy="4496427"/>
          </a:xfrm>
          <a:prstGeom prst="rect">
            <a:avLst/>
          </a:prstGeom>
        </p:spPr>
      </p:pic>
    </p:spTree>
    <p:extLst>
      <p:ext uri="{BB962C8B-B14F-4D97-AF65-F5344CB8AC3E}">
        <p14:creationId xmlns:p14="http://schemas.microsoft.com/office/powerpoint/2010/main" val="2578204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CE8595-DA3D-1F70-53D0-D8DED63A27E4}"/>
              </a:ext>
            </a:extLst>
          </p:cNvPr>
          <p:cNvSpPr txBox="1"/>
          <p:nvPr/>
        </p:nvSpPr>
        <p:spPr>
          <a:xfrm>
            <a:off x="837458" y="421175"/>
            <a:ext cx="688181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Z" altLang="en-US" sz="3200" b="0" i="0" u="none" strike="noStrike" cap="none" normalizeH="0" baseline="0">
                <a:ln>
                  <a:noFill/>
                </a:ln>
                <a:solidFill>
                  <a:schemeClr val="accent2"/>
                </a:solidFill>
                <a:effectLst/>
                <a:latin typeface="Calibri" panose="020F0502020204030204" pitchFamily="34" charset="0"/>
                <a:ea typeface="DengXian Light" panose="02010600030101010101" pitchFamily="2" charset="-122"/>
                <a:cs typeface="Calibri" panose="020F0502020204030204" pitchFamily="34" charset="0"/>
              </a:rPr>
              <a:t>Perspectives</a:t>
            </a:r>
            <a:endParaRPr kumimoji="0" lang="en-NZ" altLang="en-US" sz="3200" b="0" i="0" u="none" strike="noStrike" cap="none" normalizeH="0" baseline="0" bmk="">
              <a:ln>
                <a:noFill/>
              </a:ln>
              <a:solidFill>
                <a:schemeClr val="accent2"/>
              </a:solidFill>
              <a:effectLst/>
              <a:latin typeface="Calibri Light" panose="020F0302020204030204" pitchFamily="34" charset="0"/>
              <a:ea typeface="DengXian Light" panose="02010600030101010101" pitchFamily="2" charset="-122"/>
              <a:cs typeface="Angsana New" panose="02020603050405020304" pitchFamily="18" charset="-34"/>
            </a:endParaRPr>
          </a:p>
        </p:txBody>
      </p:sp>
      <p:pic>
        <p:nvPicPr>
          <p:cNvPr id="3" name="Content Placeholder 5" descr="A black and white text&#10;&#10;Description automatically generated">
            <a:extLst>
              <a:ext uri="{FF2B5EF4-FFF2-40B4-BE49-F238E27FC236}">
                <a16:creationId xmlns:a16="http://schemas.microsoft.com/office/drawing/2014/main" id="{9D6C09B5-86A9-FFC0-A342-85E9EB440411}"/>
              </a:ext>
            </a:extLst>
          </p:cNvPr>
          <p:cNvPicPr>
            <a:picLocks noChangeAspect="1"/>
          </p:cNvPicPr>
          <p:nvPr/>
        </p:nvPicPr>
        <p:blipFill>
          <a:blip r:embed="rId2"/>
          <a:stretch>
            <a:fillRect/>
          </a:stretch>
        </p:blipFill>
        <p:spPr>
          <a:xfrm>
            <a:off x="9908591" y="233012"/>
            <a:ext cx="1817426" cy="772938"/>
          </a:xfrm>
          <a:prstGeom prst="rect">
            <a:avLst/>
          </a:prstGeom>
        </p:spPr>
      </p:pic>
      <p:cxnSp>
        <p:nvCxnSpPr>
          <p:cNvPr id="4" name="Straight Connector 3">
            <a:extLst>
              <a:ext uri="{FF2B5EF4-FFF2-40B4-BE49-F238E27FC236}">
                <a16:creationId xmlns:a16="http://schemas.microsoft.com/office/drawing/2014/main" id="{373975E7-6CBB-151A-FA5A-D357A6DDCDC5}"/>
              </a:ext>
            </a:extLst>
          </p:cNvPr>
          <p:cNvCxnSpPr/>
          <p:nvPr/>
        </p:nvCxnSpPr>
        <p:spPr>
          <a:xfrm>
            <a:off x="952235" y="902988"/>
            <a:ext cx="83058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Table 5">
            <a:extLst>
              <a:ext uri="{FF2B5EF4-FFF2-40B4-BE49-F238E27FC236}">
                <a16:creationId xmlns:a16="http://schemas.microsoft.com/office/drawing/2014/main" id="{B9481BE6-3660-FA1E-4A75-E6ABEFE49472}"/>
              </a:ext>
            </a:extLst>
          </p:cNvPr>
          <p:cNvGraphicFramePr>
            <a:graphicFrameLocks noGrp="1"/>
          </p:cNvGraphicFramePr>
          <p:nvPr>
            <p:extLst>
              <p:ext uri="{D42A27DB-BD31-4B8C-83A1-F6EECF244321}">
                <p14:modId xmlns:p14="http://schemas.microsoft.com/office/powerpoint/2010/main" val="794092561"/>
              </p:ext>
            </p:extLst>
          </p:nvPr>
        </p:nvGraphicFramePr>
        <p:xfrm>
          <a:off x="952235" y="1927363"/>
          <a:ext cx="10451886" cy="4450080"/>
        </p:xfrm>
        <a:graphic>
          <a:graphicData uri="http://schemas.openxmlformats.org/drawingml/2006/table">
            <a:tbl>
              <a:tblPr firstRow="1" bandRow="1">
                <a:tableStyleId>{F5AB1C69-6EDB-4FF4-983F-18BD219EF322}</a:tableStyleId>
              </a:tblPr>
              <a:tblGrid>
                <a:gridCol w="2181001">
                  <a:extLst>
                    <a:ext uri="{9D8B030D-6E8A-4147-A177-3AD203B41FA5}">
                      <a16:colId xmlns:a16="http://schemas.microsoft.com/office/drawing/2014/main" val="1205404617"/>
                    </a:ext>
                  </a:extLst>
                </a:gridCol>
                <a:gridCol w="8270885">
                  <a:extLst>
                    <a:ext uri="{9D8B030D-6E8A-4147-A177-3AD203B41FA5}">
                      <a16:colId xmlns:a16="http://schemas.microsoft.com/office/drawing/2014/main" val="2310626114"/>
                    </a:ext>
                  </a:extLst>
                </a:gridCol>
              </a:tblGrid>
              <a:tr h="370840">
                <a:tc>
                  <a:txBody>
                    <a:bodyPr/>
                    <a:lstStyle/>
                    <a:p>
                      <a:r>
                        <a:rPr lang="en-NZ" sz="900" dirty="0"/>
                        <a:t>Perspectives</a:t>
                      </a:r>
                    </a:p>
                  </a:txBody>
                  <a:tcPr/>
                </a:tc>
                <a:tc>
                  <a:txBody>
                    <a:bodyPr/>
                    <a:lstStyle/>
                    <a:p>
                      <a:endParaRPr lang="en-NZ" sz="900"/>
                    </a:p>
                  </a:txBody>
                  <a:tcPr/>
                </a:tc>
                <a:extLst>
                  <a:ext uri="{0D108BD9-81ED-4DB2-BD59-A6C34878D82A}">
                    <a16:rowId xmlns:a16="http://schemas.microsoft.com/office/drawing/2014/main" val="4158799812"/>
                  </a:ext>
                </a:extLst>
              </a:tr>
              <a:tr h="370840">
                <a:tc>
                  <a:txBody>
                    <a:bodyPr/>
                    <a:lstStyle/>
                    <a:p>
                      <a:r>
                        <a:rPr lang="en-NZ" sz="900"/>
                        <a:t>Data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Kimball methodology and dimensional modelling </a:t>
                      </a:r>
                    </a:p>
                  </a:txBody>
                  <a:tcPr/>
                </a:tc>
                <a:extLst>
                  <a:ext uri="{0D108BD9-81ED-4DB2-BD59-A6C34878D82A}">
                    <a16:rowId xmlns:a16="http://schemas.microsoft.com/office/drawing/2014/main" val="2919812476"/>
                  </a:ext>
                </a:extLst>
              </a:tr>
              <a:tr h="370840">
                <a:tc>
                  <a:txBody>
                    <a:bodyPr/>
                    <a:lstStyle/>
                    <a:p>
                      <a:r>
                        <a:rPr lang="en-NZ" sz="900" kern="1200">
                          <a:solidFill>
                            <a:schemeClr val="dk1"/>
                          </a:solidFill>
                          <a:effectLst/>
                          <a:latin typeface="+mn-lt"/>
                          <a:ea typeface="+mn-ea"/>
                          <a:cs typeface="+mn-cs"/>
                        </a:rPr>
                        <a:t>System Components</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ADF,POWER BI, Synapse, key vault, SQL server</a:t>
                      </a:r>
                    </a:p>
                  </a:txBody>
                  <a:tcPr/>
                </a:tc>
                <a:extLst>
                  <a:ext uri="{0D108BD9-81ED-4DB2-BD59-A6C34878D82A}">
                    <a16:rowId xmlns:a16="http://schemas.microsoft.com/office/drawing/2014/main" val="1289961742"/>
                  </a:ext>
                </a:extLst>
              </a:tr>
              <a:tr h="370840">
                <a:tc>
                  <a:txBody>
                    <a:bodyPr/>
                    <a:lstStyle/>
                    <a:p>
                      <a:r>
                        <a:rPr lang="en-NZ" sz="900" kern="1200">
                          <a:solidFill>
                            <a:schemeClr val="dk1"/>
                          </a:solidFill>
                          <a:effectLst/>
                          <a:latin typeface="+mn-lt"/>
                          <a:ea typeface="+mn-ea"/>
                          <a:cs typeface="+mn-cs"/>
                        </a:rPr>
                        <a:t>User experience</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effectLst/>
                          <a:latin typeface="+mn-lt"/>
                          <a:ea typeface="+mn-ea"/>
                          <a:cs typeface="+mn-cs"/>
                        </a:rPr>
                        <a:t>R</a:t>
                      </a:r>
                      <a:r>
                        <a:rPr lang="en-NZ" sz="900" kern="1200" dirty="0" err="1">
                          <a:solidFill>
                            <a:schemeClr val="dk1"/>
                          </a:solidFill>
                          <a:effectLst/>
                          <a:latin typeface="+mn-lt"/>
                          <a:ea typeface="+mn-ea"/>
                          <a:cs typeface="+mn-cs"/>
                        </a:rPr>
                        <a:t>eport</a:t>
                      </a:r>
                      <a:r>
                        <a:rPr lang="en-NZ" sz="900" kern="1200" dirty="0">
                          <a:solidFill>
                            <a:schemeClr val="dk1"/>
                          </a:solidFill>
                          <a:effectLst/>
                          <a:latin typeface="+mn-lt"/>
                          <a:ea typeface="+mn-ea"/>
                          <a:cs typeface="+mn-cs"/>
                        </a:rPr>
                        <a:t> can be shared with managers or team leaders </a:t>
                      </a:r>
                    </a:p>
                  </a:txBody>
                  <a:tcPr/>
                </a:tc>
                <a:extLst>
                  <a:ext uri="{0D108BD9-81ED-4DB2-BD59-A6C34878D82A}">
                    <a16:rowId xmlns:a16="http://schemas.microsoft.com/office/drawing/2014/main" val="3010902640"/>
                  </a:ext>
                </a:extLst>
              </a:tr>
              <a:tr h="370840">
                <a:tc>
                  <a:txBody>
                    <a:bodyPr/>
                    <a:lstStyle/>
                    <a:p>
                      <a:r>
                        <a:rPr lang="en-NZ" sz="900" kern="1200">
                          <a:solidFill>
                            <a:schemeClr val="dk1"/>
                          </a:solidFill>
                          <a:effectLst/>
                          <a:latin typeface="+mn-lt"/>
                          <a:ea typeface="+mn-ea"/>
                          <a:cs typeface="+mn-cs"/>
                        </a:rPr>
                        <a:t>Security</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Incremental load is designed to handle any load performance</a:t>
                      </a:r>
                    </a:p>
                  </a:txBody>
                  <a:tcPr/>
                </a:tc>
                <a:extLst>
                  <a:ext uri="{0D108BD9-81ED-4DB2-BD59-A6C34878D82A}">
                    <a16:rowId xmlns:a16="http://schemas.microsoft.com/office/drawing/2014/main" val="2738871386"/>
                  </a:ext>
                </a:extLst>
              </a:tr>
              <a:tr h="370840">
                <a:tc>
                  <a:txBody>
                    <a:bodyPr/>
                    <a:lstStyle/>
                    <a:p>
                      <a:r>
                        <a:rPr lang="en-NZ" sz="900" kern="1200">
                          <a:solidFill>
                            <a:schemeClr val="dk1"/>
                          </a:solidFill>
                          <a:effectLst/>
                          <a:latin typeface="+mn-lt"/>
                          <a:ea typeface="+mn-ea"/>
                          <a:cs typeface="+mn-cs"/>
                        </a:rPr>
                        <a:t>Integration and APIs</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err="1">
                          <a:solidFill>
                            <a:schemeClr val="dk1"/>
                          </a:solidFill>
                          <a:effectLst/>
                          <a:latin typeface="+mn-lt"/>
                          <a:ea typeface="+mn-ea"/>
                          <a:cs typeface="+mn-cs"/>
                        </a:rPr>
                        <a:t>PowerBI</a:t>
                      </a:r>
                      <a:r>
                        <a:rPr lang="en-NZ" sz="900" kern="1200" dirty="0">
                          <a:solidFill>
                            <a:schemeClr val="dk1"/>
                          </a:solidFill>
                          <a:effectLst/>
                          <a:latin typeface="+mn-lt"/>
                          <a:ea typeface="+mn-ea"/>
                          <a:cs typeface="+mn-cs"/>
                        </a:rPr>
                        <a:t> REST API will provide data in JSON format</a:t>
                      </a:r>
                    </a:p>
                    <a:p>
                      <a:endParaRPr lang="en-NZ" sz="900" dirty="0"/>
                    </a:p>
                  </a:txBody>
                  <a:tcPr/>
                </a:tc>
                <a:extLst>
                  <a:ext uri="{0D108BD9-81ED-4DB2-BD59-A6C34878D82A}">
                    <a16:rowId xmlns:a16="http://schemas.microsoft.com/office/drawing/2014/main" val="1899603061"/>
                  </a:ext>
                </a:extLst>
              </a:tr>
              <a:tr h="370840">
                <a:tc>
                  <a:txBody>
                    <a:bodyPr/>
                    <a:lstStyle/>
                    <a:p>
                      <a:r>
                        <a:rPr lang="en-NZ" sz="900" kern="1200">
                          <a:solidFill>
                            <a:schemeClr val="dk1"/>
                          </a:solidFill>
                          <a:effectLst/>
                          <a:latin typeface="+mn-lt"/>
                          <a:ea typeface="+mn-ea"/>
                          <a:cs typeface="+mn-cs"/>
                        </a:rPr>
                        <a:t>Deployment Strategy</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Azure </a:t>
                      </a:r>
                      <a:r>
                        <a:rPr lang="en-NZ" sz="900" kern="1200" dirty="0" err="1">
                          <a:solidFill>
                            <a:schemeClr val="dk1"/>
                          </a:solidFill>
                          <a:effectLst/>
                          <a:latin typeface="+mn-lt"/>
                          <a:ea typeface="+mn-ea"/>
                          <a:cs typeface="+mn-cs"/>
                        </a:rPr>
                        <a:t>devOps</a:t>
                      </a:r>
                      <a:r>
                        <a:rPr lang="en-NZ" sz="900" kern="1200" dirty="0">
                          <a:solidFill>
                            <a:schemeClr val="dk1"/>
                          </a:solidFill>
                          <a:effectLst/>
                          <a:latin typeface="+mn-lt"/>
                          <a:ea typeface="+mn-ea"/>
                          <a:cs typeface="+mn-cs"/>
                        </a:rPr>
                        <a:t> will be used </a:t>
                      </a:r>
                      <a:r>
                        <a:rPr lang="en-NZ" sz="900" kern="1200" dirty="0" err="1">
                          <a:solidFill>
                            <a:schemeClr val="dk1"/>
                          </a:solidFill>
                          <a:effectLst/>
                          <a:latin typeface="+mn-lt"/>
                          <a:ea typeface="+mn-ea"/>
                          <a:cs typeface="+mn-cs"/>
                        </a:rPr>
                        <a:t>ro</a:t>
                      </a:r>
                      <a:r>
                        <a:rPr lang="en-NZ" sz="900" kern="1200" dirty="0">
                          <a:solidFill>
                            <a:schemeClr val="dk1"/>
                          </a:solidFill>
                          <a:effectLst/>
                          <a:latin typeface="+mn-lt"/>
                          <a:ea typeface="+mn-ea"/>
                          <a:cs typeface="+mn-cs"/>
                        </a:rPr>
                        <a:t> deploy pipeline and database objects</a:t>
                      </a:r>
                    </a:p>
                  </a:txBody>
                  <a:tcPr/>
                </a:tc>
                <a:extLst>
                  <a:ext uri="{0D108BD9-81ED-4DB2-BD59-A6C34878D82A}">
                    <a16:rowId xmlns:a16="http://schemas.microsoft.com/office/drawing/2014/main" val="2409574538"/>
                  </a:ext>
                </a:extLst>
              </a:tr>
              <a:tr h="370840">
                <a:tc>
                  <a:txBody>
                    <a:bodyPr/>
                    <a:lstStyle/>
                    <a:p>
                      <a:r>
                        <a:rPr lang="en-NZ" sz="900" kern="1200">
                          <a:solidFill>
                            <a:schemeClr val="dk1"/>
                          </a:solidFill>
                          <a:effectLst/>
                          <a:latin typeface="+mn-lt"/>
                          <a:ea typeface="+mn-ea"/>
                          <a:cs typeface="+mn-cs"/>
                        </a:rPr>
                        <a:t>Error Handling and Logging</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Error handling and logging module is included as part of ETL design </a:t>
                      </a:r>
                    </a:p>
                  </a:txBody>
                  <a:tcPr/>
                </a:tc>
                <a:extLst>
                  <a:ext uri="{0D108BD9-81ED-4DB2-BD59-A6C34878D82A}">
                    <a16:rowId xmlns:a16="http://schemas.microsoft.com/office/drawing/2014/main" val="203539419"/>
                  </a:ext>
                </a:extLst>
              </a:tr>
              <a:tr h="370840">
                <a:tc>
                  <a:txBody>
                    <a:bodyPr/>
                    <a:lstStyle/>
                    <a:p>
                      <a:r>
                        <a:rPr lang="en-NZ" sz="900" kern="1200">
                          <a:solidFill>
                            <a:schemeClr val="dk1"/>
                          </a:solidFill>
                          <a:effectLst/>
                          <a:latin typeface="+mn-lt"/>
                          <a:ea typeface="+mn-ea"/>
                          <a:cs typeface="+mn-cs"/>
                        </a:rPr>
                        <a:t>Testing Plan</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Unit testing and system testing done</a:t>
                      </a:r>
                    </a:p>
                  </a:txBody>
                  <a:tcPr/>
                </a:tc>
                <a:extLst>
                  <a:ext uri="{0D108BD9-81ED-4DB2-BD59-A6C34878D82A}">
                    <a16:rowId xmlns:a16="http://schemas.microsoft.com/office/drawing/2014/main" val="2242556491"/>
                  </a:ext>
                </a:extLst>
              </a:tr>
              <a:tr h="370840">
                <a:tc>
                  <a:txBody>
                    <a:bodyPr/>
                    <a:lstStyle/>
                    <a:p>
                      <a:r>
                        <a:rPr lang="en-NZ" sz="900" kern="1200">
                          <a:solidFill>
                            <a:schemeClr val="dk1"/>
                          </a:solidFill>
                          <a:effectLst/>
                          <a:latin typeface="+mn-lt"/>
                          <a:ea typeface="+mn-ea"/>
                          <a:cs typeface="+mn-cs"/>
                        </a:rPr>
                        <a:t>Maintenance and Support</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BI support</a:t>
                      </a:r>
                    </a:p>
                  </a:txBody>
                  <a:tcPr/>
                </a:tc>
                <a:extLst>
                  <a:ext uri="{0D108BD9-81ED-4DB2-BD59-A6C34878D82A}">
                    <a16:rowId xmlns:a16="http://schemas.microsoft.com/office/drawing/2014/main" val="4040202757"/>
                  </a:ext>
                </a:extLst>
              </a:tr>
              <a:tr h="370840">
                <a:tc>
                  <a:txBody>
                    <a:bodyPr/>
                    <a:lstStyle/>
                    <a:p>
                      <a:r>
                        <a:rPr lang="en-NZ" sz="900" kern="1200">
                          <a:solidFill>
                            <a:schemeClr val="dk1"/>
                          </a:solidFill>
                          <a:effectLst/>
                          <a:latin typeface="+mn-lt"/>
                          <a:ea typeface="+mn-ea"/>
                          <a:cs typeface="+mn-cs"/>
                        </a:rPr>
                        <a:t>Risks and Mitigations</a:t>
                      </a:r>
                      <a:endParaRPr lang="en-NZ"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900" kern="1200" dirty="0">
                          <a:solidFill>
                            <a:schemeClr val="dk1"/>
                          </a:solidFill>
                          <a:effectLst/>
                          <a:latin typeface="+mn-lt"/>
                          <a:ea typeface="+mn-ea"/>
                          <a:cs typeface="+mn-cs"/>
                        </a:rPr>
                        <a:t>NA</a:t>
                      </a:r>
                    </a:p>
                  </a:txBody>
                  <a:tcPr/>
                </a:tc>
                <a:extLst>
                  <a:ext uri="{0D108BD9-81ED-4DB2-BD59-A6C34878D82A}">
                    <a16:rowId xmlns:a16="http://schemas.microsoft.com/office/drawing/2014/main" val="99755671"/>
                  </a:ext>
                </a:extLst>
              </a:tr>
              <a:tr h="370840">
                <a:tc>
                  <a:txBody>
                    <a:bodyPr/>
                    <a:lstStyle/>
                    <a:p>
                      <a:r>
                        <a:rPr lang="en-NZ" sz="900"/>
                        <a:t>Costs and Licenses</a:t>
                      </a:r>
                    </a:p>
                  </a:txBody>
                  <a:tcPr/>
                </a:tc>
                <a:tc>
                  <a:txBody>
                    <a:bodyPr/>
                    <a:lstStyle/>
                    <a:p>
                      <a:r>
                        <a:rPr lang="en-NZ" sz="900" dirty="0"/>
                        <a:t>NA</a:t>
                      </a:r>
                    </a:p>
                  </a:txBody>
                  <a:tcPr/>
                </a:tc>
                <a:extLst>
                  <a:ext uri="{0D108BD9-81ED-4DB2-BD59-A6C34878D82A}">
                    <a16:rowId xmlns:a16="http://schemas.microsoft.com/office/drawing/2014/main" val="3031369309"/>
                  </a:ext>
                </a:extLst>
              </a:tr>
            </a:tbl>
          </a:graphicData>
        </a:graphic>
      </p:graphicFrame>
      <p:sp>
        <p:nvSpPr>
          <p:cNvPr id="6" name="TextBox 5">
            <a:extLst>
              <a:ext uri="{FF2B5EF4-FFF2-40B4-BE49-F238E27FC236}">
                <a16:creationId xmlns:a16="http://schemas.microsoft.com/office/drawing/2014/main" id="{E2D1444D-9F9C-7088-B693-2B2431E3C280}"/>
              </a:ext>
            </a:extLst>
          </p:cNvPr>
          <p:cNvSpPr txBox="1"/>
          <p:nvPr/>
        </p:nvSpPr>
        <p:spPr>
          <a:xfrm>
            <a:off x="837458" y="902988"/>
            <a:ext cx="8703357" cy="923330"/>
          </a:xfrm>
          <a:prstGeom prst="rect">
            <a:avLst/>
          </a:prstGeom>
          <a:noFill/>
        </p:spPr>
        <p:txBody>
          <a:bodyPr wrap="square" lIns="91440" tIns="45720" rIns="91440" bIns="45720" rtlCol="0" anchor="t">
            <a:spAutoFit/>
          </a:bodyPr>
          <a:lstStyle/>
          <a:p>
            <a:r>
              <a:rPr lang="en-NZ" i="1" dirty="0"/>
              <a:t>This section is a list of possible perspectives that your solution should consider. Use the same diagram as created for your overview or a more details one. Provide a narrative that describes the solution from the chosen perspective. </a:t>
            </a:r>
            <a:endParaRPr lang="en-NZ" i="1"/>
          </a:p>
        </p:txBody>
      </p:sp>
    </p:spTree>
    <p:extLst>
      <p:ext uri="{BB962C8B-B14F-4D97-AF65-F5344CB8AC3E}">
        <p14:creationId xmlns:p14="http://schemas.microsoft.com/office/powerpoint/2010/main" val="983758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A1242CCF394C74993B8E2123C221F63" ma:contentTypeVersion="14" ma:contentTypeDescription="Create a new document." ma:contentTypeScope="" ma:versionID="9b92e59f984c99086be7329cbbb19ced">
  <xsd:schema xmlns:xsd="http://www.w3.org/2001/XMLSchema" xmlns:xs="http://www.w3.org/2001/XMLSchema" xmlns:p="http://schemas.microsoft.com/office/2006/metadata/properties" xmlns:ns2="77e10fc0-2c82-45fb-8b44-f94c4e2cf3d3" xmlns:ns3="500d4eba-4eec-41dc-b368-86f3a416a495" targetNamespace="http://schemas.microsoft.com/office/2006/metadata/properties" ma:root="true" ma:fieldsID="fd7eaec9452fd79107bf90e0d397f3de" ns2:_="" ns3:_="">
    <xsd:import namespace="77e10fc0-2c82-45fb-8b44-f94c4e2cf3d3"/>
    <xsd:import namespace="500d4eba-4eec-41dc-b368-86f3a416a4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e10fc0-2c82-45fb-8b44-f94c4e2cf3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1897247-ea80-4c22-8823-c7b7f2e2e81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0d4eba-4eec-41dc-b368-86f3a416a49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1bf64081-0e4f-4a2b-91b8-fdab0f59257f}" ma:internalName="TaxCatchAll" ma:showField="CatchAllData" ma:web="500d4eba-4eec-41dc-b368-86f3a416a4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00d4eba-4eec-41dc-b368-86f3a416a495">
      <UserInfo>
        <DisplayName>Chris Negus</DisplayName>
        <AccountId>20</AccountId>
        <AccountType/>
      </UserInfo>
      <UserInfo>
        <DisplayName>Adrian Clenshaw</DisplayName>
        <AccountId>21</AccountId>
        <AccountType/>
      </UserInfo>
      <UserInfo>
        <DisplayName>Stefen Hasselberg</DisplayName>
        <AccountId>25</AccountId>
        <AccountType/>
      </UserInfo>
      <UserInfo>
        <DisplayName>Ben Reid</DisplayName>
        <AccountId>10</AccountId>
        <AccountType/>
      </UserInfo>
    </SharedWithUsers>
    <lcf76f155ced4ddcb4097134ff3c332f xmlns="77e10fc0-2c82-45fb-8b44-f94c4e2cf3d3">
      <Terms xmlns="http://schemas.microsoft.com/office/infopath/2007/PartnerControls"/>
    </lcf76f155ced4ddcb4097134ff3c332f>
    <TaxCatchAll xmlns="500d4eba-4eec-41dc-b368-86f3a416a495" xsi:nil="true"/>
  </documentManagement>
</p:properties>
</file>

<file path=customXml/itemProps1.xml><?xml version="1.0" encoding="utf-8"?>
<ds:datastoreItem xmlns:ds="http://schemas.openxmlformats.org/officeDocument/2006/customXml" ds:itemID="{6F8C6CB0-ABA3-401C-B3CA-75A93C618B5E}">
  <ds:schemaRefs>
    <ds:schemaRef ds:uri="http://schemas.microsoft.com/sharepoint/v3/contenttype/forms"/>
  </ds:schemaRefs>
</ds:datastoreItem>
</file>

<file path=customXml/itemProps2.xml><?xml version="1.0" encoding="utf-8"?>
<ds:datastoreItem xmlns:ds="http://schemas.openxmlformats.org/officeDocument/2006/customXml" ds:itemID="{E1446ED2-6170-4B63-AB3A-8DFD747F77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e10fc0-2c82-45fb-8b44-f94c4e2cf3d3"/>
    <ds:schemaRef ds:uri="500d4eba-4eec-41dc-b368-86f3a416a4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246879D-978C-44F0-9439-64D099B3A8B9}">
  <ds:schemaRefs>
    <ds:schemaRef ds:uri="http://schemas.microsoft.com/office/2006/metadata/properties"/>
    <ds:schemaRef ds:uri="http://schemas.microsoft.com/office/infopath/2007/PartnerControls"/>
    <ds:schemaRef ds:uri="500d4eba-4eec-41dc-b368-86f3a416a495"/>
    <ds:schemaRef ds:uri="77e10fc0-2c82-45fb-8b44-f94c4e2cf3d3"/>
  </ds:schemaRefs>
</ds:datastoreItem>
</file>

<file path=docProps/app.xml><?xml version="1.0" encoding="utf-8"?>
<Properties xmlns="http://schemas.openxmlformats.org/officeDocument/2006/extended-properties" xmlns:vt="http://schemas.openxmlformats.org/officeDocument/2006/docPropsVTypes">
  <TotalTime>164</TotalTime>
  <Words>763</Words>
  <Application>Microsoft Office PowerPoint</Application>
  <PresentationFormat>Widescreen</PresentationFormat>
  <Paragraphs>171</Paragraphs>
  <Slides>8</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Montserrat</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Callum Ellwood</dc:creator>
  <cp:lastModifiedBy>Manish Singh</cp:lastModifiedBy>
  <cp:revision>53</cp:revision>
  <dcterms:created xsi:type="dcterms:W3CDTF">2023-08-01T21:55:58Z</dcterms:created>
  <dcterms:modified xsi:type="dcterms:W3CDTF">2023-08-29T01:51:00Z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0x0101003A1242CCF394C74993B8E2123C221F63</vt:lpwstr>
  </property>
</Properties>
</file>